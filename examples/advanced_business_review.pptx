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F7900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</a:rPr>
              <a:t>Q2 Executive
Business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834640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B9D3FF"/>
                </a:solidFill>
              </a:rPr>
              <a:t>Growth quality, retention signals, and Q3 operating choices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5257800"/>
            <a:ext cx="2926080" cy="502920"/>
          </a:xfrm>
          <a:prstGeom prst="roundRect">
            <a:avLst/>
          </a:prstGeom>
          <a:solidFill>
            <a:srgbClr val="163B6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539496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LEADERSHIP TEAM  • 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6051"/>
            <a:ext cx="110029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01828"/>
                </a:solidFill>
              </a:rPr>
              <a:t>Today’s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73252"/>
            <a:ext cx="1100297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7085"/>
                </a:solidFill>
              </a:rPr>
              <a:t>A concise decision-oriented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7572"/>
            <a:ext cx="11002975" cy="13716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508760"/>
            <a:ext cx="105156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75564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55EEF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169163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01828"/>
                </a:solidFill>
              </a:rPr>
              <a:t>Business performance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2029967"/>
            <a:ext cx="6858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467"/>
                </a:solidFill>
              </a:rPr>
              <a:t>Revenue, retention, and cycle-time signals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880360"/>
            <a:ext cx="105156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12724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55EEF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3063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01828"/>
                </a:solidFill>
              </a:rPr>
              <a:t>Growth drivers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3401568"/>
            <a:ext cx="6858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467"/>
                </a:solidFill>
              </a:rPr>
              <a:t>Which segments are creating durable expansion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251960"/>
            <a:ext cx="105156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49884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55EEF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65960" y="4434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01828"/>
                </a:solidFill>
              </a:rPr>
              <a:t>Q3 operating 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4773168"/>
            <a:ext cx="6858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467"/>
                </a:solidFill>
              </a:rPr>
              <a:t>The choices, owners, and review 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7085"/>
                </a:solidFill>
              </a:rPr>
              <a:t>2 /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5E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6051"/>
            <a:ext cx="110029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01828"/>
                </a:solidFill>
              </a:rPr>
              <a:t>Q2 Executive Business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73252"/>
            <a:ext cx="1100297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7085"/>
                </a:solidFill>
              </a:rPr>
              <a:t>Revenue quality improved while retention remains the operating focus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147572"/>
            <a:ext cx="11002975" cy="13716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33375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3337560" cy="54864"/>
          </a:xfrm>
          <a:prstGeom prst="rect">
            <a:avLst/>
          </a:prstGeom>
          <a:solidFill>
            <a:srgbClr val="F7900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08760"/>
            <a:ext cx="3063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01828"/>
                </a:solidFill>
              </a:rPr>
              <a:t>$12.8M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057400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7085"/>
                </a:solidFill>
              </a:rPr>
              <a:t>Quarterly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331720"/>
            <a:ext cx="3063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</a:rPr>
              <a:t>+23%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325880"/>
            <a:ext cx="33375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325880"/>
            <a:ext cx="3337560" cy="54864"/>
          </a:xfrm>
          <a:prstGeom prst="rect">
            <a:avLst/>
          </a:prstGeom>
          <a:solidFill>
            <a:srgbClr val="F7900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1508760"/>
            <a:ext cx="3063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01828"/>
                </a:solidFill>
              </a:rPr>
              <a:t>89%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057400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7085"/>
                </a:solidFill>
              </a:rPr>
              <a:t>Gross retention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331720"/>
            <a:ext cx="3063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</a:rPr>
              <a:t>+5 pp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19" y="1325880"/>
            <a:ext cx="33375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19" y="1325880"/>
            <a:ext cx="3337560" cy="54864"/>
          </a:xfrm>
          <a:prstGeom prst="rect">
            <a:avLst/>
          </a:prstGeom>
          <a:solidFill>
            <a:srgbClr val="F7900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83879" y="1508760"/>
            <a:ext cx="3063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01828"/>
                </a:solidFill>
              </a:rPr>
              <a:t>42 days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2057400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7085"/>
                </a:solidFill>
              </a:rPr>
              <a:t>Sales cycle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79" y="2331720"/>
            <a:ext cx="3063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</a:rPr>
              <a:t>−8 days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2971800"/>
            <a:ext cx="5486400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2461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01828"/>
                </a:solidFill>
              </a:rPr>
              <a:t>Growth drivers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61188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467"/>
                </a:solidFill>
              </a:rPr>
              <a:t>Enterprise expansion is now the largest contributor to net new ARR.</a:t>
            </a:r>
          </a:p>
        </p:txBody>
      </p:sp>
      <p:grpSp>
        <p:nvGrpSpPr>
          <p:cNvPr id="25" name="Group 24"/>
          <p:cNvGrpSpPr/>
          <p:nvPr/>
        </p:nvGrpSpPr>
        <p:grpSpPr>
          <a:xfrm>
            <a:off x="914399" y="4133087"/>
            <a:ext cx="4919472" cy="1216153"/>
            <a:chOff x="914399" y="4133087"/>
            <a:chExt cx="4919472" cy="1216153"/>
          </a:xfrm>
        </p:grpSpPr>
        <p:sp>
          <p:nvSpPr>
            <p:cNvPr id="26" name="Rounded Rectangle 25"/>
            <p:cNvSpPr/>
            <p:nvPr/>
          </p:nvSpPr>
          <p:spPr>
            <a:xfrm>
              <a:off x="1737360" y="4160520"/>
              <a:ext cx="3474720" cy="274320"/>
            </a:xfrm>
            <a:prstGeom prst="roundRect">
              <a:avLst/>
            </a:prstGeom>
            <a:solidFill>
              <a:srgbClr val="EAECF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1737360" y="4160520"/>
              <a:ext cx="3057753" cy="274320"/>
            </a:xfrm>
            <a:prstGeom prst="roundRect">
              <a:avLst/>
            </a:prstGeom>
            <a:solidFill>
              <a:srgbClr val="155EE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914399" y="4133087"/>
              <a:ext cx="77724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r"/>
              <a:r>
                <a:rPr sz="1000" b="0">
                  <a:solidFill>
                    <a:srgbClr val="475467"/>
                  </a:solidFill>
                </a:rPr>
                <a:t>Enterprise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5285231" y="4133087"/>
              <a:ext cx="54864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sz="1000" b="1">
                  <a:solidFill>
                    <a:srgbClr val="101828"/>
                  </a:solidFill>
                </a:rPr>
                <a:t>$5.6M</a:t>
              </a:r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1737360" y="4617720"/>
              <a:ext cx="3474720" cy="274320"/>
            </a:xfrm>
            <a:prstGeom prst="roundRect">
              <a:avLst/>
            </a:prstGeom>
            <a:solidFill>
              <a:srgbClr val="EAECF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1737360" y="4617720"/>
              <a:ext cx="2328062" cy="274320"/>
            </a:xfrm>
            <a:prstGeom prst="roundRect">
              <a:avLst/>
            </a:prstGeom>
            <a:solidFill>
              <a:srgbClr val="F79009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914399" y="4590288"/>
              <a:ext cx="77724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r"/>
              <a:r>
                <a:rPr sz="1000" b="0">
                  <a:solidFill>
                    <a:srgbClr val="475467"/>
                  </a:solidFill>
                </a:rPr>
                <a:t>Mid-market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5285231" y="4590288"/>
              <a:ext cx="54864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sz="1000" b="1">
                  <a:solidFill>
                    <a:srgbClr val="101828"/>
                  </a:solidFill>
                </a:rPr>
                <a:t>$4.3M</a:t>
              </a:r>
            </a:p>
          </p:txBody>
        </p:sp>
        <p:sp>
          <p:nvSpPr>
            <p:cNvPr id="34" name="Rounded Rectangle 33"/>
            <p:cNvSpPr/>
            <p:nvPr/>
          </p:nvSpPr>
          <p:spPr>
            <a:xfrm>
              <a:off x="1737360" y="5074920"/>
              <a:ext cx="3474720" cy="274320"/>
            </a:xfrm>
            <a:prstGeom prst="roundRect">
              <a:avLst/>
            </a:prstGeom>
            <a:solidFill>
              <a:srgbClr val="EAECF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1737360" y="5074920"/>
              <a:ext cx="1494129" cy="274320"/>
            </a:xfrm>
            <a:prstGeom prst="roundRect">
              <a:avLst/>
            </a:prstGeom>
            <a:solidFill>
              <a:srgbClr val="81C78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914399" y="5047488"/>
              <a:ext cx="77724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r"/>
              <a:r>
                <a:rPr sz="1000" b="0">
                  <a:solidFill>
                    <a:srgbClr val="475467"/>
                  </a:solidFill>
                </a:rPr>
                <a:t>Self-serve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5285231" y="5047488"/>
              <a:ext cx="54864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sz="1000" b="1">
                  <a:solidFill>
                    <a:srgbClr val="101828"/>
                  </a:solidFill>
                </a:rPr>
                <a:t>$2.9M</a:t>
              </a:r>
            </a:p>
          </p:txBody>
        </p:sp>
      </p:grpSp>
      <p:sp>
        <p:nvSpPr>
          <p:cNvPr id="38" name="TextBox 37"/>
          <p:cNvSpPr txBox="1"/>
          <p:nvPr/>
        </p:nvSpPr>
        <p:spPr>
          <a:xfrm>
            <a:off x="914400" y="562356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55EEF"/>
                </a:solidFill>
              </a:rPr>
              <a:t>Decision: add two enterprise account executives in Q3.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55080" y="2971800"/>
            <a:ext cx="5193792" cy="3063240"/>
          </a:xfrm>
          <a:prstGeom prst="roundRect">
            <a:avLst/>
          </a:prstGeom>
          <a:solidFill>
            <a:srgbClr val="102A5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56832" y="3246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Q3 operating plan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56832" y="361188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0D5DD"/>
                </a:solidFill>
              </a:rPr>
              <a:t>A focused sequence from insight to measurable retention impact.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720840" y="4331208"/>
            <a:ext cx="1389583" cy="618744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>
                <a:solidFill>
                  <a:srgbClr val="FFFFFF"/>
                </a:solidFill>
              </a:rPr>
              <a:t>Onboard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243468" y="4331208"/>
            <a:ext cx="1389583" cy="618744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>
                <a:solidFill>
                  <a:srgbClr val="FFFFFF"/>
                </a:solidFill>
              </a:rPr>
              <a:t>Adopt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766096" y="4331208"/>
            <a:ext cx="1389583" cy="618744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>
                <a:solidFill>
                  <a:srgbClr val="FFFFFF"/>
                </a:solidFill>
              </a:rPr>
              <a:t>Renew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8110423" y="4640580"/>
            <a:ext cx="133045" cy="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9633051" y="4640580"/>
            <a:ext cx="133045" cy="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656832" y="55961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0D5DD"/>
                </a:solidFill>
              </a:rPr>
              <a:t>Owner: Chief Revenue Officer  •  Review: 30 Sep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7085"/>
                </a:solidFill>
              </a:rPr>
              <a:t>3 /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6051"/>
            <a:ext cx="110029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01828"/>
                </a:solidFill>
              </a:rPr>
              <a:t>Decision and next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73252"/>
            <a:ext cx="1100297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7085"/>
                </a:solidFill>
              </a:rPr>
              <a:t>Convert the Q2 signals into focused Q3 execution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7572"/>
            <a:ext cx="11002975" cy="13716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417320"/>
            <a:ext cx="10652760" cy="950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87552" y="1645920"/>
            <a:ext cx="1143000" cy="438912"/>
          </a:xfrm>
          <a:prstGeom prst="roundRect">
            <a:avLst/>
          </a:prstGeom>
          <a:solidFill>
            <a:srgbClr val="155E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3856" y="1764792"/>
            <a:ext cx="8686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INVEST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1636776"/>
            <a:ext cx="6309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1828"/>
                </a:solidFill>
              </a:rPr>
              <a:t>Add two enterprise account executives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1975104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7085"/>
                </a:solidFill>
              </a:rPr>
              <a:t>Owner: CRO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743200"/>
            <a:ext cx="10652760" cy="950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87552" y="2971800"/>
            <a:ext cx="1143000" cy="438912"/>
          </a:xfrm>
          <a:prstGeom prst="roundRect">
            <a:avLst/>
          </a:prstGeom>
          <a:solidFill>
            <a:srgbClr val="F7900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3856" y="3090672"/>
            <a:ext cx="8686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PROTECT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2962656"/>
            <a:ext cx="6309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1828"/>
                </a:solidFill>
              </a:rPr>
              <a:t>Launch renewal-risk review for the top 30 accounts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3300984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7085"/>
                </a:solidFill>
              </a:rPr>
              <a:t>Owner: VP Customer Success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069080"/>
            <a:ext cx="10652760" cy="950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87552" y="4297680"/>
            <a:ext cx="1143000" cy="438912"/>
          </a:xfrm>
          <a:prstGeom prst="roundRect">
            <a:avLst/>
          </a:prstGeom>
          <a:solidFill>
            <a:srgbClr val="12B7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33856" y="4416552"/>
            <a:ext cx="8686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MEASURE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4288536"/>
            <a:ext cx="6309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1828"/>
                </a:solidFill>
              </a:rPr>
              <a:t>Review adoption-to-renewal conversion monthly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4626864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7085"/>
                </a:solidFill>
              </a:rPr>
              <a:t>Owner: RevOps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5669280"/>
            <a:ext cx="10652760" cy="50292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128" y="5843016"/>
            <a:ext cx="99669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Decision requested today: approve headcount and the top-account retention review cadence.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7085"/>
                </a:solidFill>
              </a:rPr>
              <a:t>4 /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