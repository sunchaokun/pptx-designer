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0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fbeead76435864a2580ca7aa5e2a27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411480"/>
            <a:ext cx="10789920" cy="491947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65760" y="411480"/>
            <a:ext cx="146304" cy="4919472"/>
          </a:xfrm>
          <a:prstGeom prst="rect">
            <a:avLst/>
          </a:prstGeom>
          <a:solidFill>
            <a:srgbClr val="C9A6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909560" y="411480"/>
            <a:ext cx="3593592" cy="493776"/>
          </a:xfrm>
          <a:prstGeom prst="rect">
            <a:avLst/>
          </a:prstGeom>
          <a:solidFill>
            <a:srgbClr val="1708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11312" y="530352"/>
            <a:ext cx="2880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C9A66B"/>
                </a:solidFill>
                <a:latin typeface="Arial"/>
              </a:rPr>
              <a:t>MAISON AURELIA  /  N° 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800600"/>
            <a:ext cx="726948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17080D"/>
                </a:solidFill>
                <a:latin typeface="Georgia"/>
              </a:rPr>
              <a:t>THE RITUAL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98464" y="4800600"/>
            <a:ext cx="525780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4A0E1D"/>
                </a:solidFill>
                <a:latin typeface="Georgia"/>
              </a:rPr>
              <a:t>OF LIGHT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5815584"/>
            <a:ext cx="3429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4A0E1D"/>
                </a:solidFill>
                <a:latin typeface="Arial"/>
              </a:rPr>
              <a:t>EXTRAIT DE PARFUM / 50 ML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5687568"/>
            <a:ext cx="3794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17080D"/>
                </a:solidFill>
                <a:latin typeface="Georgia"/>
              </a:rPr>
              <a:t>A composition for the hour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17080D"/>
                </a:solidFill>
                <a:latin typeface="Georgia"/>
              </a:rPr>
              <a:t>between dusk and silence.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6400800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9E7B83"/>
                </a:solidFill>
                <a:latin typeface="Arial"/>
              </a:rPr>
              <a:t>AUTUMN / WINTER 2026     /     PARIS — NEW YORK — TOKYO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08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101b52be58dfca67aa7dc23a0a24e4c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" y="502920"/>
            <a:ext cx="11173968" cy="290779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12064" y="2926080"/>
            <a:ext cx="11173968" cy="484632"/>
          </a:xfrm>
          <a:prstGeom prst="rect">
            <a:avLst/>
          </a:prstGeom>
          <a:solidFill>
            <a:srgbClr val="F7F0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3054096"/>
            <a:ext cx="10515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4A0E1D"/>
                </a:solidFill>
                <a:latin typeface="Arial"/>
              </a:rPr>
              <a:t>BERGAMOT PEEL  /  SMOKED TEA  /  IRIS  /  CEDAR SHAVINGS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822191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C9A66B"/>
                </a:solidFill>
                <a:latin typeface="Arial"/>
              </a:rPr>
              <a:t>01 / COMPOSITION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4206240"/>
            <a:ext cx="6492240" cy="1225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3900" b="1">
                <a:solidFill>
                  <a:srgbClr val="F7F0E9"/>
                </a:solidFill>
                <a:latin typeface="Georgia"/>
              </a:rPr>
              <a:t>A scent with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3900" b="1">
                <a:solidFill>
                  <a:srgbClr val="F7F0E9"/>
                </a:solidFill>
                <a:latin typeface="Georgia"/>
              </a:rPr>
              <a:t>a slow pulse.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7808" y="4325112"/>
            <a:ext cx="358444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500" b="0">
                <a:solidFill>
                  <a:srgbClr val="E5C9BF"/>
                </a:solidFill>
                <a:latin typeface="Georgia"/>
              </a:rPr>
              <a:t>Citrus wakes first. Then iris moves through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500" b="0">
                <a:solidFill>
                  <a:srgbClr val="E5C9BF"/>
                </a:solidFill>
                <a:latin typeface="Georgia"/>
              </a:rPr>
              <a:t>the dark, until tea and cedar stay on skin.</a:t>
            </a:r>
          </a:p>
        </p:txBody>
      </p:sp>
      <p:sp>
        <p:nvSpPr>
          <p:cNvPr id="9" name="Oval 8"/>
          <p:cNvSpPr/>
          <p:nvPr/>
        </p:nvSpPr>
        <p:spPr>
          <a:xfrm>
            <a:off x="603504" y="5852160"/>
            <a:ext cx="384048" cy="384048"/>
          </a:xfrm>
          <a:prstGeom prst="ellipse">
            <a:avLst/>
          </a:prstGeom>
          <a:solidFill>
            <a:srgbClr val="C9A6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6424" y="5824728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7F0E9"/>
                </a:solidFill>
                <a:latin typeface="Arial"/>
              </a:rPr>
              <a:t>01  OPEN</a:t>
            </a:r>
          </a:p>
        </p:txBody>
      </p:sp>
      <p:sp>
        <p:nvSpPr>
          <p:cNvPr id="11" name="Oval 10"/>
          <p:cNvSpPr/>
          <p:nvPr/>
        </p:nvSpPr>
        <p:spPr>
          <a:xfrm>
            <a:off x="2505456" y="5852160"/>
            <a:ext cx="384048" cy="384048"/>
          </a:xfrm>
          <a:prstGeom prst="ellipse">
            <a:avLst/>
          </a:prstGeom>
          <a:solidFill>
            <a:srgbClr val="C9A6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08376" y="5824728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7F0E9"/>
                </a:solidFill>
                <a:latin typeface="Arial"/>
              </a:rPr>
              <a:t>02  HEART</a:t>
            </a:r>
          </a:p>
        </p:txBody>
      </p:sp>
      <p:sp>
        <p:nvSpPr>
          <p:cNvPr id="13" name="Oval 12"/>
          <p:cNvSpPr/>
          <p:nvPr/>
        </p:nvSpPr>
        <p:spPr>
          <a:xfrm>
            <a:off x="4407408" y="5852160"/>
            <a:ext cx="384048" cy="384048"/>
          </a:xfrm>
          <a:prstGeom prst="ellipse">
            <a:avLst/>
          </a:prstGeom>
          <a:solidFill>
            <a:srgbClr val="C9A6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10328" y="5824728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7F0E9"/>
                </a:solidFill>
                <a:latin typeface="Arial"/>
              </a:rPr>
              <a:t>03  TRAIL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6096" y="5943600"/>
            <a:ext cx="345643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C9A66B"/>
                </a:solidFill>
                <a:latin typeface="Arial"/>
              </a:rPr>
              <a:t>THE PERFUME DEVELOPS IN LAYERS.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de21160691e58f40fba3c71fa63f9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75488" y="438912"/>
            <a:ext cx="3200400" cy="548640"/>
          </a:xfrm>
          <a:prstGeom prst="rect">
            <a:avLst/>
          </a:prstGeom>
          <a:solidFill>
            <a:srgbClr val="F7F0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85216"/>
            <a:ext cx="27249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4A0E1D"/>
                </a:solidFill>
                <a:latin typeface="Arial"/>
              </a:rPr>
              <a:t>02 / THE GESTURE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4663440"/>
            <a:ext cx="6638544" cy="1481328"/>
          </a:xfrm>
          <a:prstGeom prst="rect">
            <a:avLst/>
          </a:prstGeom>
          <a:solidFill>
            <a:srgbClr val="1708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4791456"/>
            <a:ext cx="598932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2900" b="1">
                <a:solidFill>
                  <a:srgbClr val="F7F0E9"/>
                </a:solidFill>
                <a:latin typeface="Georgia"/>
              </a:rPr>
              <a:t>ONE SPRAY.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2900" b="1">
                <a:solidFill>
                  <a:srgbClr val="F7F0E9"/>
                </a:solidFill>
                <a:latin typeface="Georgia"/>
              </a:rPr>
              <a:t>ONE DELIBERATE PAUSE.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" y="5724144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C9BF"/>
                </a:solidFill>
                <a:latin typeface="Georgia"/>
              </a:rPr>
              <a:t>The formula is made to be noticed only at close range.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9966960" y="5779008"/>
            <a:ext cx="1600200" cy="475488"/>
          </a:xfrm>
          <a:prstGeom prst="rect">
            <a:avLst/>
          </a:prstGeom>
          <a:solidFill>
            <a:srgbClr val="F7F0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68128" y="5897880"/>
            <a:ext cx="1188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4A0E1D"/>
                </a:solidFill>
                <a:latin typeface="Arial"/>
              </a:rPr>
              <a:t>AT DUSK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0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a31e6891a34305f653867e0d8c81b6b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9696" y="438912"/>
            <a:ext cx="9491472" cy="54132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12064" y="438912"/>
            <a:ext cx="164592" cy="5413248"/>
          </a:xfrm>
          <a:prstGeom prst="rect">
            <a:avLst/>
          </a:prstGeom>
          <a:solidFill>
            <a:srgbClr val="4A0E1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76656" y="658368"/>
            <a:ext cx="11704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4A0E1D"/>
                </a:solidFill>
                <a:latin typeface="Arial"/>
              </a:rPr>
              <a:t>03 / OBJECT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2331720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3200" b="1">
                <a:solidFill>
                  <a:srgbClr val="17080D"/>
                </a:solidFill>
                <a:latin typeface="Georgia"/>
              </a:rPr>
              <a:t>A bottle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3200" b="1">
                <a:solidFill>
                  <a:srgbClr val="17080D"/>
                </a:solidFill>
                <a:latin typeface="Georgia"/>
              </a:rPr>
              <a:t>kept close.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3246120"/>
            <a:ext cx="173736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4A0E1D"/>
                </a:solidFill>
                <a:latin typeface="Georgia"/>
              </a:rPr>
              <a:t>Dark glass.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4A0E1D"/>
                </a:solidFill>
                <a:latin typeface="Georgia"/>
              </a:rPr>
              <a:t>A single gold edge.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4A0E1D"/>
                </a:solidFill>
                <a:latin typeface="Georgia"/>
              </a:rPr>
              <a:t>Nothing added.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76272" y="6144768"/>
            <a:ext cx="8823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4A0E1D"/>
                </a:solidFill>
                <a:latin typeface="Arial"/>
              </a:rPr>
              <a:t>MAISON AURELIA  /  N° 07  /  EXTRAIT DE PARFUM  /  AVAILABLE OCTOBER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512064" y="6144768"/>
            <a:ext cx="1170432" cy="201168"/>
          </a:xfrm>
          <a:prstGeom prst="rect">
            <a:avLst/>
          </a:prstGeom>
          <a:solidFill>
            <a:srgbClr val="C9A6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