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0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420624"/>
            <a:ext cx="11247120" cy="73152"/>
          </a:xfrm>
          <a:prstGeom prst="rect">
            <a:avLst/>
          </a:prstGeom>
          <a:solidFill>
            <a:srgbClr val="4A0E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87597f3f302e4ae5fad7f54e93babc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777240"/>
            <a:ext cx="10735056" cy="331012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601200" y="777240"/>
            <a:ext cx="1847088" cy="512064"/>
          </a:xfrm>
          <a:prstGeom prst="rect">
            <a:avLst/>
          </a:prstGeom>
          <a:solidFill>
            <a:srgbClr val="F7F0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1512" y="932688"/>
            <a:ext cx="1444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A0E1D"/>
                </a:solidFill>
                <a:latin typeface="Arial"/>
              </a:rPr>
              <a:t>N° 07 /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4462272"/>
            <a:ext cx="148132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200" b="1">
                <a:solidFill>
                  <a:srgbClr val="4A0E1D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4553712"/>
            <a:ext cx="40416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080D"/>
                </a:solidFill>
                <a:latin typeface="Arial"/>
              </a:rPr>
              <a:t>AURELIA NOCTURNE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4937760"/>
            <a:ext cx="4754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100" b="0">
                <a:solidFill>
                  <a:srgbClr val="4A0E1D"/>
                </a:solidFill>
                <a:latin typeface="Georgia"/>
              </a:rPr>
              <a:t>A perfume atlas for the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100" b="0">
                <a:solidFill>
                  <a:srgbClr val="4A0E1D"/>
                </a:solidFill>
                <a:latin typeface="Georgia"/>
              </a:rPr>
              <a:t>last light of the 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57616" y="4645152"/>
            <a:ext cx="2907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A0E1D"/>
                </a:solidFill>
                <a:latin typeface="Arial"/>
              </a:rPr>
              <a:t>EXTRAIT DE PARFUM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7616" y="5010912"/>
            <a:ext cx="29443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17080D"/>
                </a:solidFill>
                <a:latin typeface="Georgia"/>
              </a:rPr>
              <a:t>Collected in motion.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17080D"/>
                </a:solidFill>
                <a:latin typeface="Georgia"/>
              </a:rPr>
              <a:t>Remembered on skin.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6291072"/>
            <a:ext cx="104424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9E7B83"/>
                </a:solidFill>
                <a:latin typeface="Arial"/>
              </a:rPr>
              <a:t>50 ML     /     BERGAMOT — IRIS — SMOKED TEA — CEDAR     /     AUTUMN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6e347cad556fd5774a065c4c32aa3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1708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94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9A66B"/>
                </a:solidFill>
                <a:latin typeface="Arial"/>
              </a:rPr>
              <a:t>01 / MATERIAL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182880"/>
            <a:ext cx="393192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5C9BF"/>
                </a:solidFill>
                <a:latin typeface="Arial"/>
              </a:rPr>
              <a:t>CALABRIA — GRASSE — KASHMIR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4553712"/>
            <a:ext cx="11210544" cy="1444752"/>
          </a:xfrm>
          <a:prstGeom prst="rect">
            <a:avLst/>
          </a:prstGeom>
          <a:solidFill>
            <a:srgbClr val="F7F0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4828032"/>
            <a:ext cx="3145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A0E1D"/>
                </a:solidFill>
                <a:latin typeface="Arial"/>
              </a:rPr>
              <a:t>THE ROUTE OF THE SCENT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5138928"/>
            <a:ext cx="5212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000" b="0">
                <a:solidFill>
                  <a:srgbClr val="17080D"/>
                </a:solidFill>
                <a:latin typeface="Georgia"/>
              </a:rPr>
              <a:t>Four materials. One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2000" b="0">
                <a:solidFill>
                  <a:srgbClr val="17080D"/>
                </a:solidFill>
                <a:latin typeface="Georgia"/>
              </a:rPr>
              <a:t>late-afternoon memory.</a:t>
            </a:r>
          </a:p>
        </p:txBody>
      </p:sp>
      <p:sp>
        <p:nvSpPr>
          <p:cNvPr id="9" name="Oval 8"/>
          <p:cNvSpPr/>
          <p:nvPr/>
        </p:nvSpPr>
        <p:spPr>
          <a:xfrm>
            <a:off x="6419088" y="4864608"/>
            <a:ext cx="310896" cy="310896"/>
          </a:xfrm>
          <a:prstGeom prst="ellipse">
            <a:avLst/>
          </a:prstGeom>
          <a:solidFill>
            <a:srgbClr val="4A0E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4800600"/>
            <a:ext cx="6766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A0E1D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5303520"/>
            <a:ext cx="10789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080D"/>
                </a:solidFill>
                <a:latin typeface="Arial"/>
              </a:rPr>
              <a:t>BERGAMOT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5605272"/>
            <a:ext cx="1060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E7B83"/>
                </a:solidFill>
                <a:latin typeface="Arial"/>
              </a:rPr>
              <a:t>Calabria / light</a:t>
            </a:r>
          </a:p>
        </p:txBody>
      </p:sp>
      <p:sp>
        <p:nvSpPr>
          <p:cNvPr id="13" name="Oval 12"/>
          <p:cNvSpPr/>
          <p:nvPr/>
        </p:nvSpPr>
        <p:spPr>
          <a:xfrm>
            <a:off x="7680959" y="4864608"/>
            <a:ext cx="310896" cy="310896"/>
          </a:xfrm>
          <a:prstGeom prst="ellipse">
            <a:avLst/>
          </a:prstGeom>
          <a:solidFill>
            <a:srgbClr val="4A0E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9871" y="4800600"/>
            <a:ext cx="6766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A0E1D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59" y="5303520"/>
            <a:ext cx="10789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080D"/>
                </a:solidFill>
                <a:latin typeface="Arial"/>
              </a:rPr>
              <a:t>IRIS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59" y="5605272"/>
            <a:ext cx="1060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E7B83"/>
                </a:solidFill>
                <a:latin typeface="Arial"/>
              </a:rPr>
              <a:t>Florence / powder</a:t>
            </a:r>
          </a:p>
        </p:txBody>
      </p:sp>
      <p:sp>
        <p:nvSpPr>
          <p:cNvPr id="17" name="Oval 16"/>
          <p:cNvSpPr/>
          <p:nvPr/>
        </p:nvSpPr>
        <p:spPr>
          <a:xfrm>
            <a:off x="8942832" y="4864608"/>
            <a:ext cx="310896" cy="310896"/>
          </a:xfrm>
          <a:prstGeom prst="ellipse">
            <a:avLst/>
          </a:prstGeom>
          <a:solidFill>
            <a:srgbClr val="4A0E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81744" y="4800600"/>
            <a:ext cx="6766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A0E1D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2832" y="5303520"/>
            <a:ext cx="10789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080D"/>
                </a:solidFill>
                <a:latin typeface="Arial"/>
              </a:rPr>
              <a:t>TEA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42832" y="5605272"/>
            <a:ext cx="1060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E7B83"/>
                </a:solidFill>
                <a:latin typeface="Arial"/>
              </a:rPr>
              <a:t>Fujian / smoke</a:t>
            </a:r>
          </a:p>
        </p:txBody>
      </p:sp>
      <p:sp>
        <p:nvSpPr>
          <p:cNvPr id="21" name="Oval 20"/>
          <p:cNvSpPr/>
          <p:nvPr/>
        </p:nvSpPr>
        <p:spPr>
          <a:xfrm>
            <a:off x="10204704" y="4864608"/>
            <a:ext cx="310896" cy="310896"/>
          </a:xfrm>
          <a:prstGeom prst="ellipse">
            <a:avLst/>
          </a:prstGeom>
          <a:solidFill>
            <a:srgbClr val="4A0E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43616" y="4800600"/>
            <a:ext cx="6766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A0E1D"/>
                </a:solidFill>
                <a:latin typeface="Arial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04704" y="5303520"/>
            <a:ext cx="10789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080D"/>
                </a:solidFill>
                <a:latin typeface="Arial"/>
              </a:rPr>
              <a:t>CEDAR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04704" y="5605272"/>
            <a:ext cx="1060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E7B83"/>
                </a:solidFill>
                <a:latin typeface="Arial"/>
              </a:rPr>
              <a:t>Kashmir / grain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345936"/>
            <a:ext cx="10698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7F0E9"/>
                </a:solidFill>
                <a:latin typeface="Arial"/>
              </a:rPr>
              <a:t>AURELIA / THE PERFUME ATLAS / A STUDY OF ORIGIN, EXTRACTION AND MEMORY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de21160691e58f40fba3c71fa63f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12064" y="457200"/>
            <a:ext cx="11155680" cy="530352"/>
          </a:xfrm>
          <a:prstGeom prst="rect">
            <a:avLst/>
          </a:prstGeom>
          <a:solidFill>
            <a:srgbClr val="F7F0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612648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A0E1D"/>
                </a:solidFill>
                <a:latin typeface="Arial"/>
              </a:rPr>
              <a:t>02 / ON THE SKIN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594360"/>
            <a:ext cx="35844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4A0E1D"/>
                </a:solidFill>
                <a:latin typeface="Arial"/>
              </a:rPr>
              <a:t>THE RITUAL IS PRIVATE.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321808"/>
            <a:ext cx="12191695" cy="1536192"/>
          </a:xfrm>
          <a:prstGeom prst="rect">
            <a:avLst/>
          </a:prstGeom>
          <a:solidFill>
            <a:srgbClr val="4A0E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554126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F7F0E9"/>
                </a:solidFill>
                <a:latin typeface="Georgia"/>
              </a:rPr>
              <a:t>A gesture, not a 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7104" y="5504688"/>
            <a:ext cx="431596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E5C9BF"/>
                </a:solidFill>
                <a:latin typeface="Georgia"/>
              </a:rPr>
              <a:t>At close range, the fragrance turns warm.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E5C9BF"/>
                </a:solidFill>
                <a:latin typeface="Georgia"/>
              </a:rPr>
              <a:t>On fabric, it becomes a private address.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045952" y="5577840"/>
            <a:ext cx="146304" cy="749808"/>
          </a:xfrm>
          <a:prstGeom prst="rect">
            <a:avLst/>
          </a:prstGeom>
          <a:solidFill>
            <a:srgbClr val="C9A6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08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d628895bada86dd0a04f4ae3780085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75488"/>
            <a:ext cx="11155680" cy="416966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30352" y="4187952"/>
            <a:ext cx="11155680" cy="457200"/>
          </a:xfrm>
          <a:prstGeom prst="rect">
            <a:avLst/>
          </a:prstGeom>
          <a:solidFill>
            <a:srgbClr val="F7F0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4297680"/>
            <a:ext cx="10561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A0E1D"/>
                </a:solidFill>
                <a:latin typeface="Arial"/>
              </a:rPr>
              <a:t>THE OBJECT / DARK GLASS — MATTE CASE — GOLD EDGE — DESIGNED TO TRAVEL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138928"/>
            <a:ext cx="3063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9A66B"/>
                </a:solidFill>
                <a:latin typeface="Arial"/>
              </a:rPr>
              <a:t>03 /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5504688"/>
            <a:ext cx="6839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0">
                <a:solidFill>
                  <a:srgbClr val="F7F0E9"/>
                </a:solidFill>
                <a:latin typeface="Georgia"/>
              </a:rPr>
              <a:t>An object for the return journey.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47888" y="5468112"/>
            <a:ext cx="29992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C9A66B"/>
                </a:solidFill>
                <a:latin typeface="Arial"/>
              </a:rPr>
              <a:t>50 ML / REFILLABLE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7031" y="5870448"/>
            <a:ext cx="3017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5C9BF"/>
                </a:solidFill>
                <a:latin typeface="Arial"/>
              </a:rPr>
              <a:t>MAISON AURELIA / N°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