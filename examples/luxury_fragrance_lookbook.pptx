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3a0e4c339113f6314875558d975e5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C0C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09160" y="0"/>
            <a:ext cx="50292" cy="68580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66B"/>
                </a:solidFill>
                <a:latin typeface="Arial"/>
              </a:rPr>
              <a:t>MAISON AURELIA  /  N°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828800"/>
            <a:ext cx="3657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100" b="1">
                <a:solidFill>
                  <a:srgbClr val="F7F0E9"/>
                </a:solidFill>
                <a:latin typeface="Georgia"/>
              </a:rPr>
              <a:t>The ritual
of light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4015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7D8CF"/>
                </a:solidFill>
                <a:latin typeface="Georgia"/>
              </a:rPr>
              <a:t>An extrait composed for the hour between dusk and silence.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98932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66B"/>
                </a:solidFill>
                <a:latin typeface="Arial"/>
              </a:rPr>
              <a:t>AUTUMN / WINTER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0E1D"/>
                </a:solidFill>
                <a:latin typeface="Arial"/>
              </a:rPr>
              <a:t>01  /  THE 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5577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C0C11"/>
                </a:solidFill>
                <a:latin typeface="Georgia"/>
              </a:rPr>
              <a:t>A fragrance
with a slow pulse.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880360"/>
            <a:ext cx="4251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4A0E1D"/>
                </a:solidFill>
                <a:latin typeface="Georgia"/>
              </a:rPr>
              <a:t>The first note is bergamot at night.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4A0E1D"/>
                </a:solidFill>
                <a:latin typeface="Georgia"/>
              </a:rPr>
              <a:t>Then iris, smoked tea, and a trace of cedar.</a:t>
            </a:r>
          </a:p>
        </p:txBody>
      </p:sp>
      <p:pic>
        <p:nvPicPr>
          <p:cNvPr id="6" name="Picture 5" descr="602c7952131d9b4c9cfd66e6f19c33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8" y="658368"/>
            <a:ext cx="5897880" cy="4892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596128" y="5285232"/>
            <a:ext cx="5897880" cy="265176"/>
          </a:xfrm>
          <a:prstGeom prst="rect">
            <a:avLst/>
          </a:prstGeom>
          <a:solidFill>
            <a:srgbClr val="4A0E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0292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66B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303520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0C11"/>
                </a:solidFill>
                <a:latin typeface="Arial"/>
              </a:rPr>
              <a:t>BERGAMOT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577840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7B83"/>
                </a:solidFill>
                <a:latin typeface="Arial"/>
              </a:rPr>
              <a:t>electric opening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50292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66B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5303520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0C11"/>
                </a:solidFill>
                <a:latin typeface="Arial"/>
              </a:rPr>
              <a:t>IRIS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5577840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7B83"/>
                </a:solidFill>
                <a:latin typeface="Arial"/>
              </a:rPr>
              <a:t>powdered heart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5029200"/>
            <a:ext cx="347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66B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5303520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0C11"/>
                </a:solidFill>
                <a:latin typeface="Arial"/>
              </a:rPr>
              <a:t>CEDAR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5577840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7B83"/>
                </a:solidFill>
                <a:latin typeface="Arial"/>
              </a:rPr>
              <a:t>quiet finish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236208"/>
            <a:ext cx="10789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A0E1D"/>
                </a:solidFill>
                <a:latin typeface="Arial"/>
              </a:rPr>
              <a:t>AURELIA / EXTRACT OF PARFUM / 50 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0E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21792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66B"/>
                </a:solidFill>
                <a:latin typeface="Arial"/>
              </a:rPr>
              <a:t>02  /  THE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4572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00" b="1">
                <a:solidFill>
                  <a:srgbClr val="F7F0E9"/>
                </a:solidFill>
                <a:latin typeface="Georgia"/>
              </a:rPr>
              <a:t>A study in
contrast.</a:t>
            </a:r>
          </a:p>
        </p:txBody>
      </p:sp>
      <p:pic>
        <p:nvPicPr>
          <p:cNvPr id="5" name="Picture 4" descr="51b2a5c5766c91fb54c173319553a9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594360"/>
            <a:ext cx="5440680" cy="2788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" y="2880360"/>
            <a:ext cx="4617720" cy="2103120"/>
          </a:xfrm>
          <a:prstGeom prst="roundRect">
            <a:avLst/>
          </a:prstGeom>
          <a:solidFill>
            <a:srgbClr val="6418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18688"/>
            <a:ext cx="3794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A66B"/>
                </a:solidFill>
                <a:latin typeface="Arial"/>
              </a:rPr>
              <a:t>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11880"/>
            <a:ext cx="3794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7F0E9"/>
                </a:solidFill>
                <a:latin typeface="Georgia"/>
              </a:rPr>
              <a:t>Black glass.
A single gold seam.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3822191"/>
            <a:ext cx="5440680" cy="1161288"/>
          </a:xfrm>
          <a:prstGeom prst="roundRect">
            <a:avLst/>
          </a:prstGeom>
          <a:solidFill>
            <a:srgbClr val="F7F0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2" y="409651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0E1D"/>
                </a:solidFill>
                <a:latin typeface="Arial"/>
              </a:rPr>
              <a:t>THE GESTURE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440740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0C11"/>
                </a:solidFill>
                <a:latin typeface="Georgia"/>
              </a:rPr>
              <a:t>One spray. One deliberate pause.</a:t>
            </a:r>
          </a:p>
        </p:txBody>
      </p:sp>
      <p:sp>
        <p:nvSpPr>
          <p:cNvPr id="12" name="Oval 11"/>
          <p:cNvSpPr/>
          <p:nvPr/>
        </p:nvSpPr>
        <p:spPr>
          <a:xfrm>
            <a:off x="768096" y="5577840"/>
            <a:ext cx="585216" cy="585216"/>
          </a:xfrm>
          <a:prstGeom prst="ellipse">
            <a:avLst/>
          </a:prstGeom>
          <a:solidFill>
            <a:srgbClr val="D8B7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10512" y="5577840"/>
            <a:ext cx="585216" cy="585216"/>
          </a:xfrm>
          <a:prstGeom prst="ellipse">
            <a:avLst/>
          </a:prstGeom>
          <a:solidFill>
            <a:srgbClr val="A64C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52927" y="5577840"/>
            <a:ext cx="585216" cy="585216"/>
          </a:xfrm>
          <a:prstGeom prst="ellipse">
            <a:avLst/>
          </a:prstGeom>
          <a:solidFill>
            <a:srgbClr val="EEE0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895344" y="5577840"/>
            <a:ext cx="585216" cy="585216"/>
          </a:xfrm>
          <a:prstGeom prst="ellipse">
            <a:avLst/>
          </a:prstGeom>
          <a:solidFill>
            <a:srgbClr val="2010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8072" y="5769864"/>
            <a:ext cx="5212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7C8CF"/>
                </a:solidFill>
                <a:latin typeface="Arial"/>
              </a:rPr>
              <a:t>Palette: champagne / wine / porcelain / ink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3a0e4c339113f6314875558d975e5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983480"/>
            <a:ext cx="12191695" cy="1874519"/>
          </a:xfrm>
          <a:prstGeom prst="rect">
            <a:avLst/>
          </a:prstGeom>
          <a:solidFill>
            <a:srgbClr val="1C0C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5376672"/>
            <a:ext cx="7040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7F0E9"/>
                </a:solidFill>
                <a:latin typeface="Georgia"/>
              </a:rPr>
              <a:t>The night stays with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598932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66B"/>
                </a:solidFill>
                <a:latin typeface="Arial"/>
              </a:rPr>
              <a:t>MAISON AURELIA  /  N° 07  /  AVAILABLE OCTOBER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5394960"/>
            <a:ext cx="1691640" cy="475488"/>
          </a:xfrm>
          <a:prstGeom prst="roundRect">
            <a:avLst/>
          </a:prstGeom>
          <a:solidFill>
            <a:srgbClr val="F7F0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0656" y="5550408"/>
            <a:ext cx="1325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A0E1D"/>
                </a:solidFill>
                <a:latin typeface="Arial"/>
              </a:rPr>
              <a:t>DISCOVER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