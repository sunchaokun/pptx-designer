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1B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From Workflow
to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9D6FE"/>
                </a:solidFill>
              </a:rPr>
              <a:t>Product strategy and delivery roadmap • H2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349240"/>
            <a:ext cx="2834640" cy="45720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486400"/>
            <a:ext cx="2514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PRODUCT LEADERSHIP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1B4E"/>
                </a:solidFill>
              </a:rPr>
              <a:t>Strategy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728D"/>
                </a:solidFill>
              </a:rPr>
              <a:t>The path from a useful workflow to a scalable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D9D6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F56D9"/>
                </a:solidFill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1444752"/>
            <a:ext cx="9235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7F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160020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1B4E"/>
                </a:solidFill>
              </a:rPr>
              <a:t>Where to 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911095"/>
            <a:ext cx="795527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5570"/>
                </a:solidFill>
              </a:rPr>
              <a:t>A workflow that becomes part of the team’s daily habit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16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F56D9"/>
                </a:solidFill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0200" y="2706624"/>
            <a:ext cx="9235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7F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286207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1B4E"/>
                </a:solidFill>
              </a:rPr>
              <a:t>What to 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172968"/>
            <a:ext cx="795527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5570"/>
                </a:solidFill>
              </a:rPr>
              <a:t>Four connected release moments across the next two quarters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7822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F56D9"/>
                </a:solidFill>
              </a:rPr>
              <a:t>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3968496"/>
            <a:ext cx="9235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7F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4123944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1B4E"/>
                </a:solidFill>
              </a:rPr>
              <a:t>What we 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434840"/>
            <a:ext cx="795527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5570"/>
                </a:solidFill>
              </a:rPr>
              <a:t>A two-squad allocation and shared success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728D"/>
                </a:solidFill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F56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1B4E"/>
                </a:solidFill>
              </a:rPr>
              <a:t>Product Strategy: From Workflow to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728D"/>
                </a:solidFill>
              </a:rPr>
              <a:t>A portfolio view of the next two quarters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D9D6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453384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7F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3453384" cy="54864"/>
          </a:xfrm>
          <a:prstGeom prst="rect">
            <a:avLst/>
          </a:prstGeom>
          <a:solidFill>
            <a:srgbClr val="7F56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3179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1B4E"/>
                </a:solidFill>
              </a:rPr>
              <a:t>Win the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31790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5570"/>
                </a:solidFill>
              </a:rPr>
              <a:t>Make the daily team ritual faster and more reliable.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7784" y="1325880"/>
            <a:ext cx="3453384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7F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7784" y="1325880"/>
            <a:ext cx="345338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4944" y="1508760"/>
            <a:ext cx="3179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1B4E"/>
                </a:solidFill>
              </a:rPr>
              <a:t>Prove the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4944" y="1965960"/>
            <a:ext cx="31790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5570"/>
                </a:solidFill>
              </a:rPr>
              <a:t>Connect adoption signals to executive business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5488" y="1325880"/>
            <a:ext cx="3453384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7F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5488" y="1325880"/>
            <a:ext cx="3453384" cy="54864"/>
          </a:xfrm>
          <a:prstGeom prst="rect">
            <a:avLst/>
          </a:prstGeom>
          <a:solidFill>
            <a:srgbClr val="F790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2648" y="1508760"/>
            <a:ext cx="3179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1B4E"/>
                </a:solidFill>
              </a:rPr>
              <a:t>Scale the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2648" y="1965960"/>
            <a:ext cx="31790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5570"/>
                </a:solidFill>
              </a:rPr>
              <a:t>Open governed integrations for enterprise expansion.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71800"/>
            <a:ext cx="1090879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7F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46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1B4E"/>
                </a:solidFill>
              </a:rPr>
              <a:t>Delivery 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8444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5570"/>
                </a:solidFill>
              </a:rPr>
              <a:t>Three release moments, each tied to a measurable adoption signal.</a:t>
            </a:r>
          </a:p>
        </p:txBody>
      </p:sp>
      <p:sp>
        <p:nvSpPr>
          <p:cNvPr id="22" name="Oval 21"/>
          <p:cNvSpPr/>
          <p:nvPr/>
        </p:nvSpPr>
        <p:spPr>
          <a:xfrm>
            <a:off x="2926080" y="41788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01875" y="3429000"/>
            <a:ext cx="1594713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1A1A1A"/>
                </a:solidFill>
              </a:rPr>
              <a:t>JUL
Guided setup</a:t>
            </a:r>
          </a:p>
        </p:txBody>
      </p:sp>
      <p:sp>
        <p:nvSpPr>
          <p:cNvPr id="24" name="Oval 23"/>
          <p:cNvSpPr/>
          <p:nvPr/>
        </p:nvSpPr>
        <p:spPr>
          <a:xfrm>
            <a:off x="4919472" y="41788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95267" y="4526280"/>
            <a:ext cx="1594713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1A1A1A"/>
                </a:solidFill>
              </a:rPr>
              <a:t>AUG
Team workspace</a:t>
            </a:r>
          </a:p>
        </p:txBody>
      </p:sp>
      <p:sp>
        <p:nvSpPr>
          <p:cNvPr id="26" name="Oval 25"/>
          <p:cNvSpPr/>
          <p:nvPr/>
        </p:nvSpPr>
        <p:spPr>
          <a:xfrm>
            <a:off x="6912864" y="41788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8659" y="3429000"/>
            <a:ext cx="1594713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1A1A1A"/>
                </a:solidFill>
              </a:rPr>
              <a:t>SEP
Admin insights</a:t>
            </a:r>
          </a:p>
        </p:txBody>
      </p:sp>
      <p:sp>
        <p:nvSpPr>
          <p:cNvPr id="28" name="Oval 27"/>
          <p:cNvSpPr/>
          <p:nvPr/>
        </p:nvSpPr>
        <p:spPr>
          <a:xfrm>
            <a:off x="8906256" y="41788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2051" y="4526280"/>
            <a:ext cx="1594713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1A1A1A"/>
                </a:solidFill>
              </a:rPr>
              <a:t>OCT
Integration hub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072384" y="4251960"/>
            <a:ext cx="1847088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65776" y="4251960"/>
            <a:ext cx="1847088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059168" y="4251960"/>
            <a:ext cx="1847088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0080" y="5257800"/>
            <a:ext cx="10908792" cy="960120"/>
          </a:xfrm>
          <a:prstGeom prst="roundRect">
            <a:avLst/>
          </a:prstGeom>
          <a:solidFill>
            <a:srgbClr val="2D1B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5138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D6FE"/>
                </a:solidFill>
              </a:rPr>
              <a:t>Leadership ask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42239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Approve a two-squad allocation through October.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</a:rPr>
              <a:t>Success metric: 60% of active teams complete the workflow within 14 days.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728D"/>
                </a:solidFill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1B4E"/>
                </a:solidFill>
              </a:rPr>
              <a:t>Leadership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728D"/>
                </a:solidFill>
              </a:rPr>
              <a:t>Measure outcomes, not just shipped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D9D6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7F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3337560" cy="73152"/>
          </a:xfrm>
          <a:prstGeom prst="rect">
            <a:avLst/>
          </a:prstGeom>
          <a:solidFill>
            <a:srgbClr val="7F56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9933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A728D"/>
                </a:solidFill>
              </a:rPr>
              <a:t>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404872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>
                <a:solidFill>
                  <a:srgbClr val="2D1B4E"/>
                </a:solidFill>
              </a:rP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182112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5570"/>
                </a:solidFill>
              </a:rPr>
              <a:t>Active teams completing setup in 14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64592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7F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1645920"/>
            <a:ext cx="33375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4024" y="19933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A728D"/>
                </a:solidFill>
              </a:rPr>
              <a:t>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2404872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>
                <a:solidFill>
                  <a:srgbClr val="2D1B4E"/>
                </a:solidFill>
              </a:rPr>
              <a:t>3×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3182112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5570"/>
                </a:solidFill>
              </a:rPr>
              <a:t>Weekly workflow actions per active team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8744" y="164592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7F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38744" y="1645920"/>
            <a:ext cx="3337560" cy="73152"/>
          </a:xfrm>
          <a:prstGeom prst="rect">
            <a:avLst/>
          </a:prstGeom>
          <a:solidFill>
            <a:srgbClr val="F7900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4776" y="19933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A728D"/>
                </a:solidFill>
              </a:rPr>
              <a:t>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2404872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>
                <a:solidFill>
                  <a:srgbClr val="2D1B4E"/>
                </a:solidFill>
              </a:rPr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4776" y="3182112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5570"/>
                </a:solidFill>
              </a:rPr>
              <a:t>Enterprise accounts enabling an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681728"/>
            <a:ext cx="10789920" cy="960120"/>
          </a:xfrm>
          <a:prstGeom prst="roundRect">
            <a:avLst/>
          </a:prstGeom>
          <a:solidFill>
            <a:srgbClr val="2D1B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9377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D6FE"/>
                </a:solidFill>
              </a:rPr>
              <a:t>Decision requested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910328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Approve a two-squad allocation through October, then review the scorecard monthly.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A728D"/>
                </a:solidFill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