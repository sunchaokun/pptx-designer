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7eddd662d1700054d9b8b1e9dd4c97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0"/>
            <a:ext cx="729965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0520" y="0"/>
            <a:ext cx="1920240" cy="6858000"/>
          </a:xfrm>
          <a:prstGeom prst="rect">
            <a:avLst/>
          </a:prstGeom>
          <a:gradFill rotWithShape="1" flip="none">
            <a:gsLst>
              <a:gs pos="0">
                <a:srgbClr val="F4EFE6">
                  <a:alpha val="100000"/>
                </a:srgbClr>
              </a:gs>
              <a:gs pos="100000">
                <a:srgbClr val="F4EFE6">
                  <a:alpha val="0"/>
                </a:srgbClr>
              </a:gs>
            </a:gsLst>
            <a:lin ang="108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786384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A0442F"/>
                </a:solidFill>
                <a:latin typeface="Arial"/>
              </a:rPr>
              <a:t>ATELIER NOTES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4864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0442F"/>
                </a:solidFill>
                <a:latin typeface="Arial"/>
              </a:rPr>
              <a:t>THE WHITE STUDY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024128"/>
            <a:ext cx="3063240" cy="25603"/>
          </a:xfrm>
          <a:prstGeom prst="rect">
            <a:avLst/>
          </a:prstGeom>
          <a:solidFill>
            <a:srgbClr val="1411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188720"/>
            <a:ext cx="7543800" cy="1225296"/>
          </a:xfrm>
          <a:prstGeom prst="rect">
            <a:avLst/>
          </a:prstGeom>
          <a:noFill/>
          <a:effectLst>
            <a:outerShdw blurRad="38100" dist="25400" dir="5400000" algn="tl" rotWithShape="0">
              <a:srgbClr val="14110F">
                <a:alpha val="12000"/>
              </a:srgbClr>
            </a:outerShdw>
          </a:effectLst>
        </p:spPr>
        <p:txBody>
          <a:bodyPr wrap="square">
            <a:spAutoFit/>
          </a:bodyPr>
          <a:lstStyle/>
          <a:p>
            <a:pPr algn="l"/>
            <a:r>
              <a:rPr sz="6800" b="1">
                <a:latin typeface="Bodoni 72"/>
              </a:rPr>
              <a:t>COUTURE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03704"/>
            <a:ext cx="608076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14110F"/>
                </a:solidFill>
                <a:latin typeface="Bodoni 72"/>
              </a:rPr>
              <a:t>IN
MOTION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931920"/>
            <a:ext cx="325526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E1E1B"/>
                </a:solidFill>
                <a:latin typeface="Bodoni 72"/>
              </a:rPr>
              <a:t>A study of volume,
weight and the hand.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7552" y="4892040"/>
            <a:ext cx="2377440" cy="50292"/>
          </a:xfrm>
          <a:prstGeom prst="rect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5138928"/>
            <a:ext cx="3584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00" b="1">
                <a:solidFill>
                  <a:srgbClr val="716B65"/>
                </a:solidFill>
                <a:latin typeface="Arial"/>
              </a:rPr>
              <a:t>PARIS / SPRING–SUMMER 2027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800" b="1">
                <a:solidFill>
                  <a:srgbClr val="716B65"/>
                </a:solidFill>
                <a:latin typeface="Arial"/>
              </a:rPr>
              <a:t>PRIVATE EDITORIAL EDITION</a:t>
            </a:r>
          </a:p>
        </p:txBody>
      </p:sp>
      <p:sp>
        <p:nvSpPr>
          <p:cNvPr id="14" name="Oval 13"/>
          <p:cNvSpPr/>
          <p:nvPr/>
        </p:nvSpPr>
        <p:spPr>
          <a:xfrm>
            <a:off x="10634472" y="566928"/>
            <a:ext cx="768096" cy="768096"/>
          </a:xfrm>
          <a:prstGeom prst="ellipse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34472" y="777240"/>
            <a:ext cx="768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4EFE6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31552" y="618134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F4EFE6"/>
                </a:solidFill>
                <a:latin typeface="Arial"/>
              </a:rPr>
              <a:t>NOT A DRESS.
A GESTURE.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1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EFE6"/>
                </a:solidFill>
                <a:latin typeface="Bodoni 72"/>
              </a:rPr>
              <a:t>THE BODY
IS THE PATTERN.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70848" y="603504"/>
            <a:ext cx="2487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C49A5A"/>
                </a:solidFill>
                <a:latin typeface="Arial"/>
              </a:rPr>
              <a:t>02 / SILHOUETTE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1082528" cy="25603"/>
          </a:xfrm>
          <a:prstGeom prst="rect">
            <a:avLst/>
          </a:prstGeom>
          <a:solidFill>
            <a:srgbClr val="C49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cdbfb6820b935a0b45ca0f9fac722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2852928" cy="4187952"/>
          </a:xfrm>
          <a:prstGeom prst="rect">
            <a:avLst/>
          </a:prstGeom>
        </p:spPr>
      </p:pic>
      <p:pic>
        <p:nvPicPr>
          <p:cNvPr id="7" name="Picture 6" descr="8c9bec1c8acb37ecb4f66b231597d4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920240"/>
            <a:ext cx="4526280" cy="4187952"/>
          </a:xfrm>
          <a:prstGeom prst="rect">
            <a:avLst/>
          </a:prstGeom>
        </p:spPr>
      </p:pic>
      <p:pic>
        <p:nvPicPr>
          <p:cNvPr id="8" name="Picture 7" descr="7fa16a5298aff76ddb6b8a9f182ee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4776" y="1920240"/>
            <a:ext cx="3136392" cy="41879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0" y="1920240"/>
            <a:ext cx="182880" cy="4187952"/>
          </a:xfrm>
          <a:prstGeom prst="rect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920240"/>
            <a:ext cx="182880" cy="4187952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Donut 10"/>
          <p:cNvSpPr/>
          <p:nvPr/>
        </p:nvSpPr>
        <p:spPr>
          <a:xfrm rot="1080000">
            <a:off x="6537960" y="3858768"/>
            <a:ext cx="1152144" cy="1152144"/>
          </a:xfrm>
          <a:prstGeom prst="donut">
            <a:avLst/>
          </a:prstGeom>
          <a:solidFill>
            <a:srgbClr val="C49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4261104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110F"/>
                </a:solidFill>
                <a:latin typeface="Arial"/>
              </a:rPr>
              <a:t>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63440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>
                <a:solidFill>
                  <a:srgbClr val="14110F"/>
                </a:solidFill>
                <a:latin typeface="Arial"/>
              </a:rPr>
              <a:t>ON THE BIAS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468112"/>
            <a:ext cx="2286000" cy="393192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577840"/>
            <a:ext cx="19659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14110F"/>
                </a:solidFill>
                <a:latin typeface="Arial"/>
              </a:rPr>
              <a:t>01 / SHOULDER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59952" y="2176272"/>
            <a:ext cx="2587752" cy="393192"/>
          </a:xfrm>
          <a:prstGeom prst="rect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24544" y="2286000"/>
            <a:ext cx="213969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4EFE6"/>
                </a:solidFill>
                <a:latin typeface="Arial"/>
              </a:rPr>
              <a:t>02 / RELEASED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6327648"/>
            <a:ext cx="25877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F4EFE6"/>
                </a:solidFill>
                <a:latin typeface="Arial"/>
              </a:rPr>
              <a:t>HAND-CUT / HAND-FINISHED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D8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3fa528495aa8d73fccf85bf392d2d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1780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806440" y="0"/>
            <a:ext cx="1691640" cy="6858000"/>
          </a:xfrm>
          <a:prstGeom prst="rect">
            <a:avLst/>
          </a:prstGeom>
          <a:gradFill rotWithShape="1" flip="none">
            <a:gsLst>
              <a:gs pos="0">
                <a:srgbClr val="E3D8C8">
                  <a:alpha val="100000"/>
                </a:srgbClr>
              </a:gs>
              <a:gs pos="100000">
                <a:srgbClr val="E3D8C8">
                  <a:alpha val="0"/>
                </a:srgbClr>
              </a:gs>
            </a:gsLst>
            <a:lin ang="108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4EFE6"/>
                </a:solidFill>
                <a:latin typeface="Arial"/>
              </a:rPr>
              <a:t>03 / MATERIAL INDEX</a:t>
            </a:r>
          </a:p>
        </p:txBody>
      </p:sp>
      <p:sp>
        <p:nvSpPr>
          <p:cNvPr id="6" name="Donut 5"/>
          <p:cNvSpPr/>
          <p:nvPr/>
        </p:nvSpPr>
        <p:spPr>
          <a:xfrm rot="20160000">
            <a:off x="7191755" y="1010412"/>
            <a:ext cx="1965960" cy="1965960"/>
          </a:xfrm>
          <a:prstGeom prst="donut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08392" y="1527048"/>
            <a:ext cx="932688" cy="932688"/>
          </a:xfrm>
          <a:prstGeom prst="ellipse">
            <a:avLst/>
          </a:prstGeom>
          <a:solidFill>
            <a:srgbClr val="F4E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5" y="18013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442F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2" y="3273552"/>
            <a:ext cx="415137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4110F"/>
                </a:solidFill>
                <a:latin typeface="Bodoni 72"/>
              </a:rPr>
              <a:t>LIGHT NEEDS
TEXTURE.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79792" y="4416552"/>
            <a:ext cx="3474720" cy="50292"/>
          </a:xfrm>
          <a:prstGeom prst="rect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79" y="4791455"/>
            <a:ext cx="164592" cy="164592"/>
          </a:xfrm>
          <a:prstGeom prst="ellipse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7264" y="4773168"/>
            <a:ext cx="1481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110F"/>
                </a:solidFill>
                <a:latin typeface="Arial"/>
              </a:rPr>
              <a:t>01  ORGANZA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928" y="4791455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716B65"/>
                </a:solidFill>
                <a:latin typeface="Arial"/>
              </a:rPr>
              <a:t>AIR / RESISTANCE</a:t>
            </a:r>
          </a:p>
        </p:txBody>
      </p:sp>
      <p:sp>
        <p:nvSpPr>
          <p:cNvPr id="14" name="Oval 13"/>
          <p:cNvSpPr/>
          <p:nvPr/>
        </p:nvSpPr>
        <p:spPr>
          <a:xfrm>
            <a:off x="7498079" y="5230367"/>
            <a:ext cx="164592" cy="164592"/>
          </a:xfrm>
          <a:prstGeom prst="ellipse">
            <a:avLst/>
          </a:prstGeom>
          <a:solidFill>
            <a:srgbClr val="5E1E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27264" y="5212079"/>
            <a:ext cx="1481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110F"/>
                </a:solidFill>
                <a:latin typeface="Arial"/>
              </a:rPr>
              <a:t>02  SATIN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0928" y="5230367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716B65"/>
                </a:solidFill>
                <a:latin typeface="Arial"/>
              </a:rPr>
              <a:t>REFLECTION / WEIGHT</a:t>
            </a:r>
          </a:p>
        </p:txBody>
      </p:sp>
      <p:sp>
        <p:nvSpPr>
          <p:cNvPr id="17" name="Oval 16"/>
          <p:cNvSpPr/>
          <p:nvPr/>
        </p:nvSpPr>
        <p:spPr>
          <a:xfrm>
            <a:off x="7498079" y="5669279"/>
            <a:ext cx="164592" cy="164592"/>
          </a:xfrm>
          <a:prstGeom prst="ellipse">
            <a:avLst/>
          </a:prstGeom>
          <a:solidFill>
            <a:srgbClr val="C49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4" y="5650992"/>
            <a:ext cx="1481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110F"/>
                </a:solidFill>
                <a:latin typeface="Arial"/>
              </a:rPr>
              <a:t>03  PEARL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5669279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716B65"/>
                </a:solidFill>
                <a:latin typeface="Arial"/>
              </a:rPr>
              <a:t>GRAIN / LIGHT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e1acee65f1409bc625c7a2b27f4b23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170432"/>
            <a:ext cx="8119872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219456"/>
            <a:ext cx="11475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>
                <a:solidFill>
                  <a:srgbClr val="A0442F"/>
                </a:solidFill>
                <a:latin typeface="Bodoni 72"/>
              </a:rPr>
              <a:t>UNFINISHED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792224"/>
            <a:ext cx="2340864" cy="3456432"/>
          </a:xfrm>
          <a:prstGeom prst="rect">
            <a:avLst/>
          </a:prstGeom>
          <a:solidFill>
            <a:srgbClr val="1411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39696"/>
            <a:ext cx="1764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4EFE6"/>
                </a:solidFill>
                <a:latin typeface="Arial"/>
              </a:rPr>
              <a:t>THE FINAL
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71216"/>
            <a:ext cx="1444752" cy="47548"/>
          </a:xfrm>
          <a:prstGeom prst="rect">
            <a:avLst/>
          </a:prstGeom>
          <a:solidFill>
            <a:srgbClr val="C49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17190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E3D8C8"/>
                </a:solidFill>
                <a:latin typeface="Bodoni 72"/>
              </a:rPr>
              <a:t>A garment 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E3D8C8"/>
                </a:solidFill>
                <a:latin typeface="Bodoni 72"/>
              </a:rPr>
              <a:t>never still.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49A5A"/>
                </a:solidFill>
                <a:latin typeface="Arial"/>
              </a:rPr>
              <a:t>PARIS / 19:30</a:t>
            </a:r>
          </a:p>
        </p:txBody>
      </p:sp>
      <p:sp>
        <p:nvSpPr>
          <p:cNvPr id="10" name="Parallelogram 9"/>
          <p:cNvSpPr/>
          <p:nvPr/>
        </p:nvSpPr>
        <p:spPr>
          <a:xfrm rot="21120000">
            <a:off x="7927848" y="5157216"/>
            <a:ext cx="3493008" cy="512064"/>
          </a:xfrm>
          <a:prstGeom prst="parallelogram">
            <a:avLst/>
          </a:prstGeom>
          <a:solidFill>
            <a:srgbClr val="A044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120000">
            <a:off x="8092440" y="5321808"/>
            <a:ext cx="31455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4EFE6"/>
                </a:solidFill>
                <a:latin typeface="Arial"/>
              </a:rPr>
              <a:t>PRIVATE SALON / SEPTEMBER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96144" y="135331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A0442F"/>
                </a:solidFill>
                <a:latin typeface="Arial"/>
              </a:rPr>
              <a:t>EDITION 01
COUTURE / MOTION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6327648"/>
            <a:ext cx="80650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716B65"/>
                </a:solidFill>
                <a:latin typeface="Arial"/>
              </a:rPr>
              <a:t>THE WHITE STUDY — A COUTURE EDITORIAL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