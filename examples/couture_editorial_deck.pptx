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2b44b49306c662757180debe6cc2fc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502920"/>
            <a:ext cx="5650992" cy="5413248"/>
          </a:xfrm>
          <a:prstGeom prst="rect">
            <a:avLst/>
          </a:prstGeom>
        </p:spPr>
      </p:pic>
      <p:pic>
        <p:nvPicPr>
          <p:cNvPr id="4" name="Picture 3" descr="6c2f27a677d9c63da680ca0bda5466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502920"/>
            <a:ext cx="5230368" cy="2121408"/>
          </a:xfrm>
          <a:prstGeom prst="rect">
            <a:avLst/>
          </a:prstGeom>
        </p:spPr>
      </p:pic>
      <p:pic>
        <p:nvPicPr>
          <p:cNvPr id="5" name="Picture 4" descr="ab71b6ac191a055a8e8624b60658bc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2889504"/>
            <a:ext cx="5230368" cy="16642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37376" y="4800600"/>
            <a:ext cx="5230368" cy="1115568"/>
          </a:xfrm>
          <a:prstGeom prst="rect">
            <a:avLst/>
          </a:prstGeom>
          <a:solidFill>
            <a:srgbClr val="1713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11696" y="5047488"/>
            <a:ext cx="4553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6F0E8"/>
                </a:solidFill>
                <a:latin typeface="Arial"/>
              </a:rPr>
              <a:t>THE WHITE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5532120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3D1BA"/>
                </a:solidFill>
                <a:latin typeface="Arial"/>
              </a:rPr>
              <a:t>COUTURE / SPRING–SUMMER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208776"/>
            <a:ext cx="3401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4E35"/>
                </a:solidFill>
                <a:latin typeface="Arial"/>
              </a:rPr>
              <a:t>SILHOUETTE / HAND / MATERIAL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6236208"/>
            <a:ext cx="5138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D9289"/>
                </a:solidFill>
                <a:latin typeface="Arial"/>
              </a:rPr>
              <a:t>AN EDITORIAL RECORD OF HOW A DRESS COMES INTO BEING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3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56692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9A70"/>
                </a:solidFill>
                <a:latin typeface="Arial"/>
              </a:rPr>
              <a:t>I / THE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25296"/>
            <a:ext cx="841248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4800" b="1">
                <a:solidFill>
                  <a:srgbClr val="F6F0E8"/>
                </a:solidFill>
                <a:latin typeface="Georgia"/>
              </a:rPr>
              <a:t>FORM IS A DECISION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4800" b="1">
                <a:solidFill>
                  <a:srgbClr val="F6F0E8"/>
                </a:solidFill>
                <a:latin typeface="Georgia"/>
              </a:rPr>
              <a:t>MADE BY HAND.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7968" y="1444752"/>
            <a:ext cx="235915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E3D1BA"/>
                </a:solidFill>
                <a:latin typeface="Georgia"/>
              </a:rPr>
              <a:t>No seam is merely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E3D1BA"/>
                </a:solidFill>
                <a:latin typeface="Georgia"/>
              </a:rPr>
              <a:t>functional. It guides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E3D1BA"/>
                </a:solidFill>
                <a:latin typeface="Georgia"/>
              </a:rPr>
              <a:t>the body through light.</a:t>
            </a:r>
          </a:p>
        </p:txBody>
      </p:sp>
      <p:pic>
        <p:nvPicPr>
          <p:cNvPr id="6" name="Picture 5" descr="f226d4c8933a449381da2e0d872018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169663"/>
            <a:ext cx="11137392" cy="1920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" y="5641848"/>
            <a:ext cx="11137392" cy="448056"/>
          </a:xfrm>
          <a:prstGeom prst="rect">
            <a:avLst/>
          </a:prstGeom>
          <a:solidFill>
            <a:srgbClr val="F6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5751576"/>
            <a:ext cx="105338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C4E35"/>
                </a:solidFill>
                <a:latin typeface="Arial"/>
              </a:rPr>
              <a:t>PIN / FOLD / RELEASE / REPEAT — THE GARMENT IS FOUND THROUGH ITS 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c02cc5cacb0cfac7779a116b1cfc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5488" y="475488"/>
            <a:ext cx="2596896" cy="5907024"/>
          </a:xfrm>
          <a:prstGeom prst="rect">
            <a:avLst/>
          </a:prstGeom>
          <a:solidFill>
            <a:srgbClr val="F6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768096"/>
            <a:ext cx="19568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4E35"/>
                </a:solidFill>
                <a:latin typeface="Arial"/>
              </a:rPr>
              <a:t>II / 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93852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3000" b="1">
                <a:solidFill>
                  <a:srgbClr val="171310"/>
                </a:solidFill>
                <a:latin typeface="Georgia"/>
              </a:rPr>
              <a:t>Light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3000" b="1">
                <a:solidFill>
                  <a:srgbClr val="171310"/>
                </a:solidFill>
                <a:latin typeface="Georgia"/>
              </a:rPr>
              <a:t>needs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3000" b="1">
                <a:solidFill>
                  <a:srgbClr val="171310"/>
                </a:solidFill>
                <a:latin typeface="Georgia"/>
              </a:rPr>
              <a:t>texture.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3054096"/>
            <a:ext cx="1755648" cy="54864"/>
          </a:xfrm>
          <a:prstGeom prst="rect">
            <a:avLst/>
          </a:prstGeom>
          <a:solidFill>
            <a:srgbClr val="C89A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3438144"/>
            <a:ext cx="175564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9C4E35"/>
                </a:solidFill>
                <a:latin typeface="Arial"/>
              </a:rPr>
              <a:t>Organza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9C4E35"/>
                </a:solidFill>
                <a:latin typeface="Arial"/>
              </a:rPr>
              <a:t>Satin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9C4E35"/>
                </a:solidFill>
                <a:latin typeface="Arial"/>
              </a:rPr>
              <a:t>Pearl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956048"/>
            <a:ext cx="175564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9D9289"/>
                </a:solidFill>
                <a:latin typeface="Georgia"/>
              </a:rPr>
              <a:t>Structure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9D9289"/>
                </a:solidFill>
                <a:latin typeface="Georgia"/>
              </a:rPr>
              <a:t>Reflection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9D9289"/>
                </a:solidFill>
                <a:latin typeface="Georgia"/>
              </a:rPr>
              <a:t>Brightness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6053328"/>
            <a:ext cx="1755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C4E35"/>
                </a:solidFill>
                <a:latin typeface="Arial"/>
              </a:rPr>
              <a:t>A MATERIAL 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c81abebee69621dbd0f871b70b6c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12064" y="493776"/>
            <a:ext cx="3840480" cy="5285232"/>
          </a:xfrm>
          <a:prstGeom prst="rect">
            <a:avLst/>
          </a:prstGeom>
          <a:solidFill>
            <a:srgbClr val="F6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3182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4E35"/>
                </a:solidFill>
                <a:latin typeface="Arial"/>
              </a:rPr>
              <a:t>III / AFTER DARK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371600"/>
            <a:ext cx="3054096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3100" b="1">
                <a:solidFill>
                  <a:srgbClr val="171310"/>
                </a:solidFill>
                <a:latin typeface="Georgia"/>
              </a:rPr>
              <a:t>A room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3100" b="1">
                <a:solidFill>
                  <a:srgbClr val="171310"/>
                </a:solidFill>
                <a:latin typeface="Georgia"/>
              </a:rPr>
              <a:t>for the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3100" b="1">
                <a:solidFill>
                  <a:srgbClr val="171310"/>
                </a:solidFill>
                <a:latin typeface="Georgia"/>
              </a:rPr>
              <a:t>first look.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456432"/>
            <a:ext cx="296265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9C4E35"/>
                </a:solidFill>
                <a:latin typeface="Georgia"/>
              </a:rPr>
              <a:t>The dress stands still.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9C4E35"/>
                </a:solidFill>
                <a:latin typeface="Georgia"/>
              </a:rPr>
              <a:t>Everything around it changes.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4773168"/>
            <a:ext cx="3035808" cy="54864"/>
          </a:xfrm>
          <a:prstGeom prst="rect">
            <a:avLst/>
          </a:prstGeom>
          <a:solidFill>
            <a:srgbClr val="C89A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5065776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 b="1">
                <a:solidFill>
                  <a:srgbClr val="171310"/>
                </a:solidFill>
                <a:latin typeface="Arial"/>
              </a:rPr>
              <a:t>PRIVATE SALON / PARIS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 b="1">
                <a:solidFill>
                  <a:srgbClr val="171310"/>
                </a:solidFill>
                <a:latin typeface="Arial"/>
              </a:rPr>
              <a:t>SEPTEMBER 2027 / 19:30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6236208"/>
            <a:ext cx="65288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F6F0E8"/>
                </a:solidFill>
                <a:latin typeface="Arial"/>
              </a:rPr>
              <a:t>THE WHITE STUDY / COUTURE EDITORIAL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