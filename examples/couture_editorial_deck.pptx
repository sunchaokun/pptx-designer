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3d277811ce3fd6b2f01c642ff4094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F6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C4E35"/>
                </a:solidFill>
                <a:latin typeface="Arial"/>
              </a:rPr>
              <a:t>ATELIER  /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171310"/>
                </a:solidFill>
                <a:latin typeface="Georgia"/>
              </a:rPr>
              <a:t>Stillness
in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456432"/>
            <a:ext cx="2697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C4E35"/>
                </a:solidFill>
                <a:latin typeface="Georgia"/>
              </a:rPr>
              <a:t>A couture study in sculpted fabric, sun, and silence.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925312"/>
            <a:ext cx="2743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D9289"/>
                </a:solidFill>
                <a:latin typeface="Arial"/>
              </a:rPr>
              <a:t>PRIVATE COLLECTION  /  SS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516155258c8801396d1027ebab61b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4800600" cy="5532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870448" y="640080"/>
            <a:ext cx="36576" cy="5532120"/>
          </a:xfrm>
          <a:prstGeom prst="rect">
            <a:avLst/>
          </a:prstGeom>
          <a:solidFill>
            <a:srgbClr val="C89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80467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C4E35"/>
                </a:solidFill>
                <a:latin typeface="Arial"/>
              </a:rPr>
              <a:t>01  /  THE SILHOUETTE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17320"/>
            <a:ext cx="4709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171310"/>
                </a:solidFill>
                <a:latin typeface="Georgia"/>
              </a:rPr>
              <a:t>The line
comes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944368"/>
            <a:ext cx="4251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9C4E35"/>
                </a:solidFill>
                <a:latin typeface="Georgia"/>
              </a:rPr>
              <a:t>Every volume is reduced until gesture becomes architecture.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9C4E35"/>
                </a:solidFill>
                <a:latin typeface="Georgia"/>
              </a:rPr>
              <a:t>The body is not dressed. It is framed.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892040"/>
            <a:ext cx="4343400" cy="731520"/>
          </a:xfrm>
          <a:prstGeom prst="round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157216"/>
            <a:ext cx="3749039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6F0E8"/>
                </a:solidFill>
                <a:latin typeface="Arial"/>
              </a:rPr>
              <a:t>CUT  /  FALL  /  LIGHT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2468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9A70"/>
                </a:solidFill>
                <a:latin typeface="Arial"/>
              </a:rPr>
              <a:t>02  /  THE PALETTE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6F0E8"/>
                </a:solidFill>
                <a:latin typeface="Georgia"/>
              </a:rPr>
              <a:t>Warm neutrals,
precise emotion.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108960"/>
            <a:ext cx="2322576" cy="1417320"/>
          </a:xfrm>
          <a:prstGeom prst="rect">
            <a:avLst/>
          </a:prstGeom>
          <a:solidFill>
            <a:srgbClr val="F6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773168"/>
            <a:ext cx="23225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6F0E8"/>
                </a:solidFill>
                <a:latin typeface="Arial"/>
              </a:rPr>
              <a:t>PORCELAIN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3863" y="3108960"/>
            <a:ext cx="2322576" cy="1417320"/>
          </a:xfrm>
          <a:prstGeom prst="rect">
            <a:avLst/>
          </a:prstGeom>
          <a:solidFill>
            <a:srgbClr val="C89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863" y="4773168"/>
            <a:ext cx="23225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6F0E8"/>
                </a:solidFill>
                <a:latin typeface="Arial"/>
              </a:rPr>
              <a:t>SAND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3108960"/>
            <a:ext cx="2322576" cy="1417320"/>
          </a:xfrm>
          <a:prstGeom prst="rect">
            <a:avLst/>
          </a:prstGeom>
          <a:solidFill>
            <a:srgbClr val="9C4E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4496" y="4773168"/>
            <a:ext cx="23225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6F0E8"/>
                </a:solidFill>
                <a:latin typeface="Arial"/>
              </a:rPr>
              <a:t>OXIDE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25128" y="3108960"/>
            <a:ext cx="2322576" cy="1417320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5128" y="4773168"/>
            <a:ext cx="23225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6F0E8"/>
                </a:solidFill>
                <a:latin typeface="Arial"/>
              </a:rPr>
              <a:t>OBSIDIAN</a:t>
            </a:r>
          </a:p>
        </p:txBody>
      </p:sp>
      <p:pic>
        <p:nvPicPr>
          <p:cNvPr id="13" name="Picture 12" descr="d7bf723b696a4f8a5f80dcbc37f9cc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5303520"/>
            <a:ext cx="38862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" y="562356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9C9BC"/>
                </a:solidFill>
                <a:latin typeface="Georgia"/>
              </a:rPr>
              <a:t>A collection designed to be remembered as a single image.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3d277811ce3fd6b2f01c642ff4094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47e5e77004758df8f11ec88c677048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0"/>
            <a:ext cx="5699455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1143000"/>
            <a:ext cx="4800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9A70"/>
                </a:solidFill>
                <a:latin typeface="Arial"/>
              </a:rPr>
              <a:t>THE PRIVATE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F6F0E8"/>
                </a:solidFill>
                <a:latin typeface="Georgia"/>
              </a:rPr>
              <a:t>Spring / Summer
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4526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9C9BC"/>
                </a:solidFill>
                <a:latin typeface="Georgia"/>
              </a:rPr>
              <a:t>Palais de Tokyo
Paris  •  18 September  •  19:30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5230368"/>
            <a:ext cx="2240280" cy="475488"/>
          </a:xfrm>
          <a:prstGeom prst="roundRect">
            <a:avLst/>
          </a:prstGeom>
          <a:solidFill>
            <a:srgbClr val="C89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5376672"/>
            <a:ext cx="17830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71310"/>
                </a:solidFill>
                <a:latin typeface="Arial"/>
              </a:rPr>
              <a:t>BY INVITATION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