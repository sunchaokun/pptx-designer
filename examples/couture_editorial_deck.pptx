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38912"/>
            <a:ext cx="11228832" cy="73152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b5e7360fab9b2a47ec822582fb9d25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41248"/>
            <a:ext cx="10808208" cy="41879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464040" y="841248"/>
            <a:ext cx="2039112" cy="493776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20072" y="978408"/>
            <a:ext cx="1572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6F0E8"/>
                </a:solidFill>
                <a:latin typeface="Arial"/>
              </a:rPr>
              <a:t>ATELIER EDITION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4315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71310"/>
                </a:solidFill>
                <a:latin typeface="Arial"/>
              </a:rPr>
              <a:t>ATELIER MERIDIAN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5769864"/>
            <a:ext cx="574243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400" b="0">
                <a:solidFill>
                  <a:srgbClr val="9C4E35"/>
                </a:solidFill>
                <a:latin typeface="Georgia"/>
              </a:rPr>
              <a:t>Sculpted light,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400" b="0">
                <a:solidFill>
                  <a:srgbClr val="9C4E35"/>
                </a:solidFill>
                <a:latin typeface="Georgia"/>
              </a:rPr>
              <a:t>held in fabric.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7536" y="5577840"/>
            <a:ext cx="35112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C4E35"/>
                </a:solidFill>
                <a:latin typeface="Arial"/>
              </a:rPr>
              <a:t>SPRING / SUMMER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7536" y="5852160"/>
            <a:ext cx="351129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71310"/>
                </a:solidFill>
                <a:latin typeface="Georgia"/>
              </a:rPr>
              <a:t>A study of drape, restraint,</a:t>
            </a:r>
          </a:p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71310"/>
                </a:solidFill>
                <a:latin typeface="Georgia"/>
              </a:rPr>
              <a:t>and the precision of the hand.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d6949e0e06a179b80384c15aeeea0e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530352"/>
            <a:ext cx="11155680" cy="35112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" y="3547872"/>
            <a:ext cx="11155680" cy="493776"/>
          </a:xfrm>
          <a:prstGeom prst="rect">
            <a:avLst/>
          </a:prstGeom>
          <a:solidFill>
            <a:srgbClr val="F6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3685032"/>
            <a:ext cx="105521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C4E35"/>
                </a:solidFill>
                <a:latin typeface="Arial"/>
              </a:rPr>
              <a:t>HAND-FOLDED ORGANZA / TEMPORARY STITCH / FINAL SILHOUETTE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4535424"/>
            <a:ext cx="26883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9A70"/>
                </a:solidFill>
                <a:latin typeface="Arial"/>
              </a:rPr>
              <a:t>01 / THE HAND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901184"/>
            <a:ext cx="6309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6F0E8"/>
                </a:solidFill>
                <a:latin typeface="Georgia"/>
              </a:rPr>
              <a:t>Construction is the ornament.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51775" y="4782312"/>
            <a:ext cx="3712463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E3D1BA"/>
                </a:solidFill>
                <a:latin typeface="Georgia"/>
              </a:rPr>
              <a:t>Each fold is pinned before it is trusted.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E3D1BA"/>
                </a:solidFill>
                <a:latin typeface="Georgia"/>
              </a:rPr>
              <a:t>The final line is discovered, not drawn.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144768"/>
            <a:ext cx="10716768" cy="54864"/>
          </a:xfrm>
          <a:prstGeom prst="rect">
            <a:avLst/>
          </a:prstGeom>
          <a:solidFill>
            <a:srgbClr val="9C4E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c02cc5cacb0cfac7779a116b1cfc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3776" y="475488"/>
            <a:ext cx="4608576" cy="1243584"/>
          </a:xfrm>
          <a:prstGeom prst="rect">
            <a:avLst/>
          </a:prstGeom>
          <a:solidFill>
            <a:srgbClr val="F6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04088"/>
            <a:ext cx="3383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C4E35"/>
                </a:solidFill>
                <a:latin typeface="Arial"/>
              </a:rPr>
              <a:t>02 / MATERIAL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382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71310"/>
                </a:solidFill>
                <a:latin typeface="Georgia"/>
              </a:rPr>
              <a:t>Texture carries the light.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175504"/>
            <a:ext cx="12191695" cy="1682496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4944" y="5632704"/>
            <a:ext cx="384048" cy="384048"/>
          </a:xfrm>
          <a:prstGeom prst="ellipse">
            <a:avLst/>
          </a:prstGeom>
          <a:solidFill>
            <a:srgbClr val="C89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5550408"/>
            <a:ext cx="19751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01  ORGANZA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5852160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3D1BA"/>
                </a:solidFill>
                <a:latin typeface="Georgia"/>
              </a:rPr>
              <a:t>translucent structure</a:t>
            </a:r>
          </a:p>
        </p:txBody>
      </p:sp>
      <p:sp>
        <p:nvSpPr>
          <p:cNvPr id="10" name="Oval 9"/>
          <p:cNvSpPr/>
          <p:nvPr/>
        </p:nvSpPr>
        <p:spPr>
          <a:xfrm>
            <a:off x="4425696" y="5632704"/>
            <a:ext cx="384048" cy="384048"/>
          </a:xfrm>
          <a:prstGeom prst="ellipse">
            <a:avLst/>
          </a:prstGeom>
          <a:solidFill>
            <a:srgbClr val="C89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336" y="5550408"/>
            <a:ext cx="19751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02  SATIN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5852160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3D1BA"/>
                </a:solidFill>
                <a:latin typeface="Georgia"/>
              </a:rPr>
              <a:t>weight and reflection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8156448" y="5632704"/>
            <a:ext cx="384048" cy="384048"/>
          </a:xfrm>
          <a:prstGeom prst="ellipse">
            <a:avLst/>
          </a:prstGeom>
          <a:solidFill>
            <a:srgbClr val="C89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5088" y="5550408"/>
            <a:ext cx="19751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03  PEARL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5852160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3D1BA"/>
                </a:solidFill>
                <a:latin typeface="Georgia"/>
              </a:rPr>
              <a:t>a point of brightness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c81abebee69621dbd0f871b70b6c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2064" y="475488"/>
            <a:ext cx="11173968" cy="530352"/>
          </a:xfrm>
          <a:prstGeom prst="rect">
            <a:avLst/>
          </a:prstGeom>
          <a:solidFill>
            <a:srgbClr val="F6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630936"/>
            <a:ext cx="3127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C4E35"/>
                </a:solidFill>
                <a:latin typeface="Arial"/>
              </a:rPr>
              <a:t>03 / SALON AFTER DARK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79792" y="630936"/>
            <a:ext cx="378561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C4E35"/>
                </a:solidFill>
                <a:latin typeface="Arial"/>
              </a:rPr>
              <a:t>PARIS / SEPTEMBER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5266944"/>
            <a:ext cx="7388352" cy="1078992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522976"/>
            <a:ext cx="67482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6F0E8"/>
                </a:solidFill>
                <a:latin typeface="Georgia"/>
              </a:rPr>
              <a:t>The collection waits for its first witness.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9056" y="5541264"/>
            <a:ext cx="27797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F6F0E8"/>
                </a:solidFill>
                <a:latin typeface="Arial"/>
              </a:rPr>
              <a:t>PRIVATE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5925312"/>
            <a:ext cx="27797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E3D1BA"/>
                </a:solidFill>
                <a:latin typeface="Arial"/>
              </a:rPr>
              <a:t>19:30 / BY APPOINTMENT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