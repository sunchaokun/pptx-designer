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f7ded8fe6d11c0ba5841ecc545064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844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658368"/>
            <a:ext cx="2880360" cy="420624"/>
          </a:xfrm>
          <a:prstGeom prst="roundRect">
            <a:avLst/>
          </a:prstGeom>
          <a:solidFill>
            <a:srgbClr val="F9F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95528"/>
            <a:ext cx="251460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23B7A"/>
                </a:solidFill>
                <a:latin typeface="Arial"/>
              </a:rPr>
              <a:t>STUDIO HORIZON  / 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6126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F9FBFF"/>
                </a:solidFill>
                <a:latin typeface="Georgia"/>
              </a:rPr>
              <a:t>A place for
clearer futures.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383280"/>
            <a:ext cx="4480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DDEBFF"/>
                </a:solidFill>
                <a:latin typeface="Georgia"/>
              </a:rPr>
              <a:t>A civic pavilion imagined as a threshold between climate, culture, and calm.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2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6492240"/>
            <a:ext cx="10789920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F9FBFF"/>
                </a:solidFill>
                <a:latin typeface="Arial"/>
              </a:rPr>
              <a:t>CONCEPT BOOK  /  PACIFIC CULTURAL DISTRICT  /  COMPETITION ENTRY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D84437"/>
                </a:solidFill>
                <a:latin typeface="Arial"/>
              </a:rPr>
              <a:t>01  /  THE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88720"/>
            <a:ext cx="484632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900" b="1">
                <a:solidFill>
                  <a:srgbClr val="10213D"/>
                </a:solidFill>
                <a:latin typeface="Georgia"/>
              </a:rPr>
              <a:t>Monumental,
never imposing.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61488"/>
            <a:ext cx="4251960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123B7A"/>
                </a:solidFill>
                <a:latin typeface="Georgia"/>
              </a:rPr>
              <a:t>A generous curve gives shade, frames water, and makes arrival feel ceremonial.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500" b="0">
                <a:solidFill>
                  <a:srgbClr val="123B7A"/>
                </a:solidFill>
                <a:latin typeface="Georgia"/>
              </a:rPr>
              <a:t>The architecture does less so the landscape can do more.</a:t>
            </a:r>
          </a:p>
        </p:txBody>
      </p:sp>
      <p:pic>
        <p:nvPicPr>
          <p:cNvPr id="6" name="Picture 5" descr="65d2773544e794165a143be2897cef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658368"/>
            <a:ext cx="6172200" cy="53949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349240" y="5760720"/>
            <a:ext cx="6172200" cy="292608"/>
          </a:xfrm>
          <a:prstGeom prst="rect">
            <a:avLst/>
          </a:prstGeom>
          <a:solidFill>
            <a:srgbClr val="12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4892040"/>
            <a:ext cx="3474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84437"/>
                </a:solidFill>
                <a:latin typeface="Arial"/>
              </a:rPr>
              <a:t>2,800 m²  /  WATER + SHADE + GATHERING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658368"/>
            <a:ext cx="2743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DDEBFF"/>
                </a:solidFill>
                <a:latin typeface="Arial"/>
              </a:rPr>
              <a:t>02  /  THE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188720"/>
            <a:ext cx="54864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700" b="1">
                <a:solidFill>
                  <a:srgbClr val="F9FBFF"/>
                </a:solidFill>
                <a:latin typeface="Georgia"/>
              </a:rPr>
              <a:t>Three precise gestures.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2423160"/>
            <a:ext cx="3273552" cy="2359152"/>
          </a:xfrm>
          <a:prstGeom prst="roundRect">
            <a:avLst/>
          </a:prstGeom>
          <a:solidFill>
            <a:srgbClr val="1B4D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87552" y="2743200"/>
            <a:ext cx="502920" cy="502920"/>
          </a:xfrm>
          <a:prstGeom prst="ellipse">
            <a:avLst/>
          </a:prstGeom>
          <a:solidFill>
            <a:srgbClr val="DDE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73352" y="2761488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DEBF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5478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9FBFF"/>
                </a:solidFill>
                <a:latin typeface="Georgia"/>
              </a:rPr>
              <a:t>SHADE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977639"/>
            <a:ext cx="25420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DEBFF"/>
                </a:solidFill>
                <a:latin typeface="Arial"/>
              </a:rPr>
              <a:t>A deep canopy reduces heat and creates a public room.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16552" y="2423160"/>
            <a:ext cx="3273552" cy="2359152"/>
          </a:xfrm>
          <a:prstGeom prst="roundRect">
            <a:avLst/>
          </a:prstGeom>
          <a:solidFill>
            <a:srgbClr val="1B4D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90872" y="2743200"/>
            <a:ext cx="502920" cy="502920"/>
          </a:xfrm>
          <a:prstGeom prst="ellipse">
            <a:avLst/>
          </a:prstGeom>
          <a:solidFill>
            <a:srgbClr val="DDE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76672" y="2761488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DEBFF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35478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9FBFF"/>
                </a:solidFill>
                <a:latin typeface="Georgia"/>
              </a:rPr>
              <a:t>REFLECTION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90872" y="3977639"/>
            <a:ext cx="25420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DEBFF"/>
                </a:solidFill>
                <a:latin typeface="Arial"/>
              </a:rPr>
              <a:t>Water doubles the sky and slows the pace of the site.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9871" y="2423160"/>
            <a:ext cx="3273552" cy="2359152"/>
          </a:xfrm>
          <a:prstGeom prst="roundRect">
            <a:avLst/>
          </a:prstGeom>
          <a:solidFill>
            <a:srgbClr val="1B4D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94192" y="2743200"/>
            <a:ext cx="502920" cy="502920"/>
          </a:xfrm>
          <a:prstGeom prst="ellipse">
            <a:avLst/>
          </a:prstGeom>
          <a:solidFill>
            <a:srgbClr val="D844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79992" y="2761488"/>
            <a:ext cx="1828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DDEBFF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35478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9FBFF"/>
                </a:solidFill>
                <a:latin typeface="Georgia"/>
              </a:rPr>
              <a:t>THRESHOLD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3977639"/>
            <a:ext cx="254203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DDEBFF"/>
                </a:solidFill>
                <a:latin typeface="Arial"/>
              </a:rPr>
              <a:t>A single red object marks arrival without adding noise.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870448"/>
            <a:ext cx="9875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DEBFF"/>
                </a:solidFill>
                <a:latin typeface="Georgia"/>
              </a:rPr>
              <a:t>The proposal measures ambition by the quality of the public’s pause.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f7ded8fe6d11c0ba5841ecc545064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4709160" cy="6858000"/>
          </a:xfrm>
          <a:prstGeom prst="rect">
            <a:avLst/>
          </a:prstGeom>
          <a:solidFill>
            <a:srgbClr val="F9FB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709160" y="0"/>
            <a:ext cx="54864" cy="6858000"/>
          </a:xfrm>
          <a:prstGeom prst="rect">
            <a:avLst/>
          </a:prstGeom>
          <a:solidFill>
            <a:srgbClr val="D8443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41248"/>
            <a:ext cx="3200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D84437"/>
                </a:solidFill>
                <a:latin typeface="Arial"/>
              </a:rPr>
              <a:t>THE INVITATION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874519"/>
            <a:ext cx="3703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10213D"/>
                </a:solidFill>
                <a:latin typeface="Georgia"/>
              </a:rPr>
              <a:t>Build a place
worth returning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12463"/>
            <a:ext cx="3429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23B7A"/>
                </a:solidFill>
                <a:latin typeface="Georgia"/>
              </a:rPr>
              <a:t>A pavilion that does not compete with the horizon—it clarifies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5321808"/>
            <a:ext cx="2395728" cy="457200"/>
          </a:xfrm>
          <a:prstGeom prst="roundRect">
            <a:avLst/>
          </a:prstGeom>
          <a:solidFill>
            <a:srgbClr val="123B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5468112"/>
            <a:ext cx="1901952" cy="1280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9FBFF"/>
                </a:solidFill>
                <a:latin typeface="Arial"/>
              </a:rPr>
              <a:t>STUDIO HORIZON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