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8d92821b14cac883b0f2d1a0b3aba3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475488"/>
            <a:ext cx="10287000" cy="51389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12064" y="475488"/>
            <a:ext cx="201168" cy="5138928"/>
          </a:xfrm>
          <a:prstGeom prst="rect">
            <a:avLst/>
          </a:prstGeom>
          <a:solidFill>
            <a:srgbClr val="DF3E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28431" y="475488"/>
            <a:ext cx="3493008" cy="594360"/>
          </a:xfrm>
          <a:prstGeom prst="rect">
            <a:avLst/>
          </a:prstGeom>
          <a:solidFill>
            <a:srgbClr val="123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84464" y="704088"/>
            <a:ext cx="28529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rial"/>
              </a:rPr>
              <a:t>PACIFIC CULTURAL DISTRICT  / 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956048"/>
            <a:ext cx="6949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101F37"/>
                </a:solidFill>
                <a:latin typeface="Georgia"/>
              </a:rPr>
              <a:t>HORIZON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33872" y="4956048"/>
            <a:ext cx="53949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DF3E32"/>
                </a:solidFill>
                <a:latin typeface="Georgia"/>
              </a:rPr>
              <a:t>COMMONS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5833872"/>
            <a:ext cx="2926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F3E32"/>
                </a:solidFill>
                <a:latin typeface="Arial"/>
              </a:rPr>
              <a:t>A CIVIC PAVILION / CONCEPT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5724144"/>
            <a:ext cx="3794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123B7A"/>
                </a:solidFill>
                <a:latin typeface="Georgia"/>
              </a:rPr>
              <a:t>A generous threshold between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123B7A"/>
                </a:solidFill>
                <a:latin typeface="Georgia"/>
              </a:rPr>
              <a:t>climate, culture and pause.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6437376"/>
            <a:ext cx="10789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01F37"/>
                </a:solidFill>
                <a:latin typeface="Arial"/>
              </a:rPr>
              <a:t>STUDIO HORIZON     /     SITE 07     /     PACIFIC COAST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b8190f9819d3b1513f58f5c0fa2c5b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502920"/>
            <a:ext cx="6656832" cy="532180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88920" y="5257800"/>
            <a:ext cx="6656832" cy="566928"/>
          </a:xfrm>
          <a:prstGeom prst="rect">
            <a:avLst/>
          </a:prstGeom>
          <a:solidFill>
            <a:srgbClr val="F4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4952" y="5458968"/>
            <a:ext cx="60807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23B7A"/>
                </a:solidFill>
                <a:latin typeface="Arial"/>
              </a:rPr>
              <a:t>THE ROOF IS A CLIMATE DEVICE, NOT AN OBJECT.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6692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DEBFF"/>
                </a:solidFill>
                <a:latin typeface="Arial"/>
              </a:rPr>
              <a:t>01 / PROPOSITION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25296"/>
            <a:ext cx="1956816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3900" b="1">
                <a:solidFill>
                  <a:srgbClr val="FFFFFF"/>
                </a:solidFill>
                <a:latin typeface="Georgia"/>
              </a:rPr>
              <a:t>SHADE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3900" b="1">
                <a:solidFill>
                  <a:srgbClr val="FFFFFF"/>
                </a:solidFill>
                <a:latin typeface="Georgia"/>
              </a:rPr>
              <a:t>IS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3900" b="1">
                <a:solidFill>
                  <a:srgbClr val="FFFFFF"/>
                </a:solidFill>
                <a:latin typeface="Georgia"/>
              </a:rPr>
              <a:t>CIVIC.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7232" y="1097280"/>
            <a:ext cx="17556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DDEBFF"/>
                </a:solidFill>
                <a:latin typeface="Georgia"/>
              </a:rPr>
              <a:t>The canopy gives the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DDEBFF"/>
                </a:solidFill>
                <a:latin typeface="Georgia"/>
              </a:rPr>
              <a:t>public room its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DDEBFF"/>
                </a:solidFill>
                <a:latin typeface="Georgia"/>
              </a:rPr>
              <a:t>temperature, scale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DDEBFF"/>
                </a:solidFill>
                <a:latin typeface="Georgia"/>
              </a:rPr>
              <a:t>and reason to stay.</a:t>
            </a:r>
          </a:p>
        </p:txBody>
      </p:sp>
      <p:sp>
        <p:nvSpPr>
          <p:cNvPr id="9" name="Oval 8"/>
          <p:cNvSpPr/>
          <p:nvPr/>
        </p:nvSpPr>
        <p:spPr>
          <a:xfrm>
            <a:off x="10040112" y="4023360"/>
            <a:ext cx="960120" cy="960120"/>
          </a:xfrm>
          <a:prstGeom prst="ellipse">
            <a:avLst/>
          </a:prstGeom>
          <a:solidFill>
            <a:srgbClr val="DF3E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254496"/>
            <a:ext cx="10515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DDEBFF"/>
                </a:solidFill>
                <a:latin typeface="Arial"/>
              </a:rPr>
              <a:t>2,800 M²     /     WATER + SHADE + GATHERING     /     OPEN TO THE HORIZON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93776"/>
            <a:ext cx="19202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F3E32"/>
                </a:solidFill>
                <a:latin typeface="Arial"/>
              </a:rPr>
              <a:t>02 / ARRIVAL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064" y="969264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01F37"/>
                </a:solidFill>
                <a:latin typeface="Georgia"/>
              </a:rPr>
              <a:t>A place unfolds in three pauses.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993392"/>
            <a:ext cx="7132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DF3E32"/>
                </a:solidFill>
                <a:latin typeface="Georgia"/>
              </a:rPr>
              <a:t>I</a:t>
            </a:r>
          </a:p>
        </p:txBody>
      </p:sp>
      <p:sp>
        <p:nvSpPr>
          <p:cNvPr id="6" name="Rectangle 5"/>
          <p:cNvSpPr/>
          <p:nvPr/>
        </p:nvSpPr>
        <p:spPr>
          <a:xfrm>
            <a:off x="1536192" y="2176272"/>
            <a:ext cx="2148840" cy="64008"/>
          </a:xfrm>
          <a:prstGeom prst="rect">
            <a:avLst/>
          </a:prstGeom>
          <a:solidFill>
            <a:srgbClr val="1769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34256" y="1993392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3B7A"/>
                </a:solidFill>
                <a:latin typeface="Arial"/>
              </a:rPr>
              <a:t>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56832" y="1975104"/>
            <a:ext cx="44348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1F37"/>
                </a:solidFill>
                <a:latin typeface="Georgia"/>
              </a:rPr>
              <a:t>The long edge slows the city before the building begins.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273552"/>
            <a:ext cx="7132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DF3E32"/>
                </a:solidFill>
                <a:latin typeface="Georgia"/>
              </a:rPr>
              <a:t>II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36192" y="3456432"/>
            <a:ext cx="3474720" cy="64008"/>
          </a:xfrm>
          <a:prstGeom prst="rect">
            <a:avLst/>
          </a:prstGeom>
          <a:solidFill>
            <a:srgbClr val="1769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4256" y="3273552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3B7A"/>
                </a:solidFill>
                <a:latin typeface="Arial"/>
              </a:rPr>
              <a:t>CROSSING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56832" y="3255264"/>
            <a:ext cx="44348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1F37"/>
                </a:solidFill>
                <a:latin typeface="Georgia"/>
              </a:rPr>
              <a:t>A cool shadow makes the act of arrival feel deliberate.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553712"/>
            <a:ext cx="7132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DF3E32"/>
                </a:solidFill>
                <a:latin typeface="Georgia"/>
              </a:rPr>
              <a:t>III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36192" y="4736592"/>
            <a:ext cx="4800600" cy="64008"/>
          </a:xfrm>
          <a:prstGeom prst="rect">
            <a:avLst/>
          </a:prstGeom>
          <a:solidFill>
            <a:srgbClr val="1769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34256" y="4553712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3B7A"/>
                </a:solidFill>
                <a:latin typeface="Arial"/>
              </a:rPr>
              <a:t>RETURN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535424"/>
            <a:ext cx="44348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1F37"/>
                </a:solidFill>
                <a:latin typeface="Georgia"/>
              </a:rPr>
              <a:t>Water sends the sky back into the room as a quiet civic ritual.</a:t>
            </a:r>
          </a:p>
        </p:txBody>
      </p:sp>
      <p:pic>
        <p:nvPicPr>
          <p:cNvPr id="17" name="Picture 16" descr="efa29ac69ad033c2c57738c005ad32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1080" y="5440680"/>
            <a:ext cx="2542032" cy="841248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66928" y="6345936"/>
            <a:ext cx="11045952" cy="64008"/>
          </a:xfrm>
          <a:prstGeom prst="rect">
            <a:avLst/>
          </a:prstGeom>
          <a:solidFill>
            <a:srgbClr val="DF3E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8d38ac7db23af20f9e197354cbace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0352" y="502920"/>
            <a:ext cx="4754880" cy="5230368"/>
          </a:xfrm>
          <a:prstGeom prst="rect">
            <a:avLst/>
          </a:prstGeom>
          <a:solidFill>
            <a:srgbClr val="F4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502920"/>
            <a:ext cx="4754880" cy="137160"/>
          </a:xfrm>
          <a:prstGeom prst="rect">
            <a:avLst/>
          </a:prstGeom>
          <a:solidFill>
            <a:srgbClr val="DF3E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33832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F3E32"/>
                </a:solidFill>
                <a:latin typeface="Arial"/>
              </a:rPr>
              <a:t>03 / THE INVITATION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554480"/>
            <a:ext cx="3886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3800" b="1">
                <a:solidFill>
                  <a:srgbClr val="101F37"/>
                </a:solidFill>
                <a:latin typeface="Georgia"/>
              </a:rPr>
              <a:t>MAKE ROOM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3800" b="1">
                <a:solidFill>
                  <a:srgbClr val="101F37"/>
                </a:solidFill>
                <a:latin typeface="Georgia"/>
              </a:rPr>
              <a:t>FOR RETURN.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246120"/>
            <a:ext cx="37307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123B7A"/>
                </a:solidFill>
                <a:latin typeface="Georgia"/>
              </a:rPr>
              <a:t>The strongest civic gesture is not spectacle.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123B7A"/>
                </a:solidFill>
                <a:latin typeface="Georgia"/>
              </a:rPr>
              <a:t>It is giving people a reason to pause, return, and belong.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047488"/>
            <a:ext cx="35661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01F37"/>
                </a:solidFill>
                <a:latin typeface="Arial"/>
              </a:rPr>
              <a:t>STUDIO HORIZON  /  ARCHITECTURE + PUBLIC LIFE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97880" y="6053328"/>
            <a:ext cx="5742432" cy="310896"/>
          </a:xfrm>
          <a:prstGeom prst="rect">
            <a:avLst/>
          </a:prstGeom>
          <a:solidFill>
            <a:srgbClr val="123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6153912"/>
            <a:ext cx="5257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rial"/>
              </a:rPr>
              <a:t>PACIFIC CULTURAL DISTRICT  /  CONCEPT BOOK  /  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