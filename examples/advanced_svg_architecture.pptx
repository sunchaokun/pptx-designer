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058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900" b="1">
                <a:solidFill>
                  <a:srgbClr val="FFFFFF"/>
                </a:solidFill>
              </a:rPr>
              <a:t>Composable Platform
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8803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FDBFE"/>
                </a:solidFill>
              </a:rPr>
              <a:t>A four-page technical narrative built with native PPT and editable SVG objects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532120"/>
            <a:ext cx="4023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3C5FD"/>
                </a:solidFill>
              </a:rPr>
              <a:t>ARCHITECTURE REVIEW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6051"/>
            <a:ext cx="110029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</a:rPr>
              <a:t>Architecture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73252"/>
            <a:ext cx="110029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A decision-ready technical narrative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7572"/>
            <a:ext cx="1100297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2" y="1508760"/>
            <a:ext cx="1060704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728216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673351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</a:rPr>
              <a:t>User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993391"/>
            <a:ext cx="8046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One workflow across web, mobile, and partner surfaces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2770632"/>
            <a:ext cx="1060704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990087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935224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</a:rPr>
              <a:t>Decision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255263"/>
            <a:ext cx="8046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A shared intelligence layer orchestrates workflow choices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" y="4032504"/>
            <a:ext cx="1060704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251960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197096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</a:rPr>
              <a:t>Foundation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517136"/>
            <a:ext cx="8046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Customer data and governed integrations create leverage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6051"/>
            <a:ext cx="110029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</a:rPr>
              <a:t>Composable Platform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73252"/>
            <a:ext cx="110029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SVG source compiled into editable PowerPoint shapes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7572"/>
            <a:ext cx="1100297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reeform"/>
          <p:cNvSpPr/>
          <p:nvPr/>
        </p:nvSpPr>
        <p:spPr>
          <a:xfrm>
            <a:off x="689610" y="1532762"/>
            <a:ext cx="10828020" cy="1166812"/>
          </a:xfrm>
          <a:custGeom>
            <a:avLst/>
            <a:gdLst/>
            <a:pathLst>
              <a:path w="10828020" h="1166812">
                <a:moveTo>
                  <a:pt x="168021" y="0"/>
                </a:moveTo>
                <a:cubicBezTo>
                  <a:pt x="75225" y="0"/>
                  <a:pt x="0" y="75225"/>
                  <a:pt x="0" y="168020"/>
                </a:cubicBezTo>
                <a:cubicBezTo>
                  <a:pt x="0" y="1091586"/>
                  <a:pt x="75225" y="1166812"/>
                  <a:pt x="168021" y="1166812"/>
                </a:cubicBezTo>
                <a:cubicBezTo>
                  <a:pt x="10752794" y="1166812"/>
                  <a:pt x="10828020" y="1091586"/>
                  <a:pt x="10828020" y="998791"/>
                </a:cubicBezTo>
                <a:cubicBezTo>
                  <a:pt x="10828020" y="75225"/>
                  <a:pt x="10752794" y="0"/>
                  <a:pt x="10659999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D0D5DD"/>
            </a:solidFill>
          </a:ln>
        </p:spPr>
      </p:sp>
      <p:sp>
        <p:nvSpPr>
          <p:cNvPr id="7" name="Freeform"/>
          <p:cNvSpPr/>
          <p:nvPr/>
        </p:nvSpPr>
        <p:spPr>
          <a:xfrm>
            <a:off x="689610" y="3352990"/>
            <a:ext cx="10828020" cy="1166812"/>
          </a:xfrm>
          <a:custGeom>
            <a:avLst/>
            <a:gdLst/>
            <a:pathLst>
              <a:path w="10828020" h="1166812">
                <a:moveTo>
                  <a:pt x="168021" y="0"/>
                </a:moveTo>
                <a:cubicBezTo>
                  <a:pt x="75225" y="0"/>
                  <a:pt x="0" y="75225"/>
                  <a:pt x="0" y="168020"/>
                </a:cubicBezTo>
                <a:cubicBezTo>
                  <a:pt x="0" y="1091586"/>
                  <a:pt x="75225" y="1166812"/>
                  <a:pt x="168021" y="1166812"/>
                </a:cubicBezTo>
                <a:cubicBezTo>
                  <a:pt x="10752794" y="1166812"/>
                  <a:pt x="10828020" y="1091586"/>
                  <a:pt x="10828020" y="998791"/>
                </a:cubicBezTo>
                <a:cubicBezTo>
                  <a:pt x="10828020" y="75225"/>
                  <a:pt x="10752794" y="0"/>
                  <a:pt x="10659999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D0D5DD"/>
            </a:solidFill>
          </a:ln>
        </p:spPr>
      </p:sp>
      <p:sp>
        <p:nvSpPr>
          <p:cNvPr id="8" name="Freeform"/>
          <p:cNvSpPr/>
          <p:nvPr/>
        </p:nvSpPr>
        <p:spPr>
          <a:xfrm>
            <a:off x="689610" y="5173218"/>
            <a:ext cx="10828020" cy="1166812"/>
          </a:xfrm>
          <a:custGeom>
            <a:avLst/>
            <a:gdLst/>
            <a:pathLst>
              <a:path w="10828020" h="1166812">
                <a:moveTo>
                  <a:pt x="168021" y="0"/>
                </a:moveTo>
                <a:cubicBezTo>
                  <a:pt x="75225" y="0"/>
                  <a:pt x="0" y="75225"/>
                  <a:pt x="0" y="168020"/>
                </a:cubicBezTo>
                <a:cubicBezTo>
                  <a:pt x="0" y="1091586"/>
                  <a:pt x="75225" y="1166812"/>
                  <a:pt x="168021" y="1166812"/>
                </a:cubicBezTo>
                <a:cubicBezTo>
                  <a:pt x="10752794" y="1166812"/>
                  <a:pt x="10828020" y="1091586"/>
                  <a:pt x="10828020" y="998791"/>
                </a:cubicBezTo>
                <a:cubicBezTo>
                  <a:pt x="10828020" y="75225"/>
                  <a:pt x="10752794" y="0"/>
                  <a:pt x="10659999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D0D5DD"/>
            </a:solidFill>
          </a:ln>
        </p:spPr>
      </p:sp>
      <p:sp>
        <p:nvSpPr>
          <p:cNvPr id="9" name="Freeform"/>
          <p:cNvSpPr/>
          <p:nvPr/>
        </p:nvSpPr>
        <p:spPr>
          <a:xfrm>
            <a:off x="3536632" y="2699575"/>
            <a:ext cx="0" cy="653415"/>
          </a:xfrm>
          <a:custGeom>
            <a:avLst/>
            <a:gdLst/>
            <a:pathLst>
              <a:path w="0" h="653415">
                <a:moveTo>
                  <a:pt x="0" y="0"/>
                </a:moveTo>
                <a:lnTo>
                  <a:pt x="0" y="653415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98A2B3"/>
            </a:solidFill>
          </a:ln>
        </p:spPr>
      </p:sp>
      <p:sp>
        <p:nvSpPr>
          <p:cNvPr id="10" name="Freeform"/>
          <p:cNvSpPr/>
          <p:nvPr/>
        </p:nvSpPr>
        <p:spPr>
          <a:xfrm>
            <a:off x="6150292" y="2699575"/>
            <a:ext cx="0" cy="653415"/>
          </a:xfrm>
          <a:custGeom>
            <a:avLst/>
            <a:gdLst/>
            <a:pathLst>
              <a:path w="0" h="653415">
                <a:moveTo>
                  <a:pt x="0" y="0"/>
                </a:moveTo>
                <a:lnTo>
                  <a:pt x="0" y="653415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98A2B3"/>
            </a:solidFill>
          </a:ln>
        </p:spPr>
      </p:sp>
      <p:sp>
        <p:nvSpPr>
          <p:cNvPr id="11" name="Freeform"/>
          <p:cNvSpPr/>
          <p:nvPr/>
        </p:nvSpPr>
        <p:spPr>
          <a:xfrm>
            <a:off x="6150292" y="4519803"/>
            <a:ext cx="0" cy="653415"/>
          </a:xfrm>
          <a:custGeom>
            <a:avLst/>
            <a:gdLst/>
            <a:pathLst>
              <a:path w="0" h="653415">
                <a:moveTo>
                  <a:pt x="0" y="0"/>
                </a:moveTo>
                <a:lnTo>
                  <a:pt x="0" y="653415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98A2B3"/>
            </a:solidFill>
          </a:ln>
        </p:spPr>
      </p:sp>
      <p:sp>
        <p:nvSpPr>
          <p:cNvPr id="12" name="Freeform"/>
          <p:cNvSpPr/>
          <p:nvPr/>
        </p:nvSpPr>
        <p:spPr>
          <a:xfrm>
            <a:off x="1529715" y="2027491"/>
            <a:ext cx="1960244" cy="448056"/>
          </a:xfrm>
          <a:custGeom>
            <a:avLst/>
            <a:gdLst/>
            <a:pathLst>
              <a:path w="1960244" h="448056">
                <a:moveTo>
                  <a:pt x="112013" y="0"/>
                </a:moveTo>
                <a:cubicBezTo>
                  <a:pt x="50150" y="0"/>
                  <a:pt x="0" y="50150"/>
                  <a:pt x="0" y="112014"/>
                </a:cubicBezTo>
                <a:cubicBezTo>
                  <a:pt x="0" y="397905"/>
                  <a:pt x="50150" y="448056"/>
                  <a:pt x="112013" y="448056"/>
                </a:cubicBezTo>
                <a:cubicBezTo>
                  <a:pt x="1910093" y="448056"/>
                  <a:pt x="1960244" y="397905"/>
                  <a:pt x="1960244" y="336042"/>
                </a:cubicBezTo>
                <a:cubicBezTo>
                  <a:pt x="1960244" y="50150"/>
                  <a:pt x="1910093" y="0"/>
                  <a:pt x="1848230" y="0"/>
                </a:cubicBezTo>
                <a:close/>
              </a:path>
            </a:pathLst>
          </a:custGeom>
          <a:gradFill rotWithShape="1" flip="none">
            <a:gsLst>
              <a:gs pos="0">
                <a:srgbClr val="2563EB">
                  <a:alpha val="100000"/>
                </a:srgbClr>
              </a:gs>
              <a:gs pos="100000">
                <a:srgbClr val="1D4ED8">
                  <a:alpha val="100000"/>
                </a:srgbClr>
              </a:gs>
            </a:gsLst>
            <a:lin ang="2700000" scaled="1"/>
          </a:gradFill>
          <a:ln w="12700">
            <a:noFill/>
          </a:ln>
        </p:spPr>
      </p:sp>
      <p:sp>
        <p:nvSpPr>
          <p:cNvPr id="13" name="TextBox 12"/>
          <p:cNvSpPr txBox="1"/>
          <p:nvPr/>
        </p:nvSpPr>
        <p:spPr>
          <a:xfrm>
            <a:off x="1527406" y="2181986"/>
            <a:ext cx="1964862" cy="539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70" b="1">
                <a:solidFill>
                  <a:srgbClr val="FFFFFF"/>
                </a:solidFill>
                <a:latin typeface="Arial"/>
              </a:rPr>
              <a:t>Web workspace</a:t>
            </a:r>
          </a:p>
        </p:txBody>
      </p:sp>
      <p:sp>
        <p:nvSpPr>
          <p:cNvPr id="14" name="Freeform"/>
          <p:cNvSpPr/>
          <p:nvPr/>
        </p:nvSpPr>
        <p:spPr>
          <a:xfrm>
            <a:off x="4143375" y="2027491"/>
            <a:ext cx="1960244" cy="448056"/>
          </a:xfrm>
          <a:custGeom>
            <a:avLst/>
            <a:gdLst/>
            <a:pathLst>
              <a:path w="1960244" h="448056">
                <a:moveTo>
                  <a:pt x="112013" y="0"/>
                </a:moveTo>
                <a:cubicBezTo>
                  <a:pt x="50150" y="0"/>
                  <a:pt x="0" y="50150"/>
                  <a:pt x="0" y="112014"/>
                </a:cubicBezTo>
                <a:cubicBezTo>
                  <a:pt x="0" y="397905"/>
                  <a:pt x="50150" y="448056"/>
                  <a:pt x="112013" y="448056"/>
                </a:cubicBezTo>
                <a:cubicBezTo>
                  <a:pt x="1910093" y="448056"/>
                  <a:pt x="1960244" y="397905"/>
                  <a:pt x="1960244" y="336042"/>
                </a:cubicBezTo>
                <a:cubicBezTo>
                  <a:pt x="1960244" y="50150"/>
                  <a:pt x="1910093" y="0"/>
                  <a:pt x="1848230" y="0"/>
                </a:cubicBezTo>
                <a:close/>
              </a:path>
            </a:pathLst>
          </a:custGeom>
          <a:gradFill rotWithShape="1" flip="none">
            <a:gsLst>
              <a:gs pos="0">
                <a:srgbClr val="2563EB">
                  <a:alpha val="100000"/>
                </a:srgbClr>
              </a:gs>
              <a:gs pos="100000">
                <a:srgbClr val="1D4ED8">
                  <a:alpha val="100000"/>
                </a:srgbClr>
              </a:gs>
            </a:gsLst>
            <a:lin ang="2700000" scaled="1"/>
          </a:gradFill>
          <a:ln w="12700">
            <a:noFill/>
          </a:ln>
        </p:spPr>
      </p:sp>
      <p:sp>
        <p:nvSpPr>
          <p:cNvPr id="15" name="TextBox 14"/>
          <p:cNvSpPr txBox="1"/>
          <p:nvPr/>
        </p:nvSpPr>
        <p:spPr>
          <a:xfrm>
            <a:off x="3979765" y="2181986"/>
            <a:ext cx="2287463" cy="539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70" b="1">
                <a:solidFill>
                  <a:srgbClr val="FFFFFF"/>
                </a:solidFill>
                <a:latin typeface="Arial"/>
              </a:rPr>
              <a:t>Mobile companion</a:t>
            </a:r>
          </a:p>
        </p:txBody>
      </p:sp>
      <p:sp>
        <p:nvSpPr>
          <p:cNvPr id="16" name="Freeform"/>
          <p:cNvSpPr/>
          <p:nvPr/>
        </p:nvSpPr>
        <p:spPr>
          <a:xfrm>
            <a:off x="6757035" y="2027491"/>
            <a:ext cx="1960244" cy="448056"/>
          </a:xfrm>
          <a:custGeom>
            <a:avLst/>
            <a:gdLst/>
            <a:pathLst>
              <a:path w="1960244" h="448056">
                <a:moveTo>
                  <a:pt x="112013" y="0"/>
                </a:moveTo>
                <a:cubicBezTo>
                  <a:pt x="50150" y="0"/>
                  <a:pt x="0" y="50150"/>
                  <a:pt x="0" y="112014"/>
                </a:cubicBezTo>
                <a:cubicBezTo>
                  <a:pt x="0" y="397905"/>
                  <a:pt x="50150" y="448056"/>
                  <a:pt x="112013" y="448056"/>
                </a:cubicBezTo>
                <a:cubicBezTo>
                  <a:pt x="1910093" y="448056"/>
                  <a:pt x="1960244" y="397905"/>
                  <a:pt x="1960244" y="336042"/>
                </a:cubicBezTo>
                <a:cubicBezTo>
                  <a:pt x="1960244" y="50150"/>
                  <a:pt x="1910093" y="0"/>
                  <a:pt x="1848230" y="0"/>
                </a:cubicBezTo>
                <a:close/>
              </a:path>
            </a:pathLst>
          </a:custGeom>
          <a:gradFill rotWithShape="1" flip="none">
            <a:gsLst>
              <a:gs pos="0">
                <a:srgbClr val="2563EB">
                  <a:alpha val="100000"/>
                </a:srgbClr>
              </a:gs>
              <a:gs pos="100000">
                <a:srgbClr val="1D4ED8">
                  <a:alpha val="100000"/>
                </a:srgbClr>
              </a:gs>
            </a:gsLst>
            <a:lin ang="2700000" scaled="1"/>
          </a:gradFill>
          <a:ln w="12700"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6700959" y="2181986"/>
            <a:ext cx="2072396" cy="539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70" b="1">
                <a:solidFill>
                  <a:srgbClr val="FFFFFF"/>
                </a:solidFill>
                <a:latin typeface="Arial"/>
              </a:rPr>
              <a:t>Partner portal</a:t>
            </a:r>
          </a:p>
        </p:txBody>
      </p:sp>
      <p:sp>
        <p:nvSpPr>
          <p:cNvPr id="18" name="Freeform"/>
          <p:cNvSpPr/>
          <p:nvPr/>
        </p:nvSpPr>
        <p:spPr>
          <a:xfrm>
            <a:off x="4796789" y="3847719"/>
            <a:ext cx="2707005" cy="448055"/>
          </a:xfrm>
          <a:custGeom>
            <a:avLst/>
            <a:gdLst/>
            <a:pathLst>
              <a:path w="2707005" h="448055">
                <a:moveTo>
                  <a:pt x="112014" y="0"/>
                </a:moveTo>
                <a:cubicBezTo>
                  <a:pt x="50150" y="0"/>
                  <a:pt x="0" y="50150"/>
                  <a:pt x="0" y="112013"/>
                </a:cubicBezTo>
                <a:cubicBezTo>
                  <a:pt x="0" y="397904"/>
                  <a:pt x="50150" y="448055"/>
                  <a:pt x="112014" y="448055"/>
                </a:cubicBezTo>
                <a:cubicBezTo>
                  <a:pt x="2656854" y="448055"/>
                  <a:pt x="2707005" y="397904"/>
                  <a:pt x="2707005" y="336041"/>
                </a:cubicBezTo>
                <a:cubicBezTo>
                  <a:pt x="2707005" y="50150"/>
                  <a:pt x="2656854" y="0"/>
                  <a:pt x="2594990" y="0"/>
                </a:cubicBezTo>
                <a:close/>
              </a:path>
            </a:pathLst>
          </a:custGeom>
          <a:gradFill rotWithShape="1" flip="none">
            <a:gsLst>
              <a:gs pos="0">
                <a:srgbClr val="8B5CF6">
                  <a:alpha val="100000"/>
                </a:srgbClr>
              </a:gs>
              <a:gs pos="100000">
                <a:srgbClr val="6D28D9">
                  <a:alpha val="100000"/>
                </a:srgbClr>
              </a:gs>
            </a:gsLst>
            <a:lin ang="2700000" scaled="1"/>
          </a:gradFill>
          <a:ln w="12700">
            <a:noFill/>
          </a:ln>
        </p:spPr>
      </p:sp>
      <p:sp>
        <p:nvSpPr>
          <p:cNvPr id="19" name="TextBox 18"/>
          <p:cNvSpPr txBox="1"/>
          <p:nvPr/>
        </p:nvSpPr>
        <p:spPr>
          <a:xfrm>
            <a:off x="4253826" y="3996499"/>
            <a:ext cx="3792931" cy="5623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43" b="1">
                <a:solidFill>
                  <a:srgbClr val="FFFFFF"/>
                </a:solidFill>
                <a:latin typeface="Arial"/>
              </a:rPr>
              <a:t>Decision and workflow engine</a:t>
            </a:r>
          </a:p>
        </p:txBody>
      </p:sp>
      <p:sp>
        <p:nvSpPr>
          <p:cNvPr id="20" name="Freeform"/>
          <p:cNvSpPr/>
          <p:nvPr/>
        </p:nvSpPr>
        <p:spPr>
          <a:xfrm>
            <a:off x="3116580" y="5667946"/>
            <a:ext cx="2146935" cy="448055"/>
          </a:xfrm>
          <a:custGeom>
            <a:avLst/>
            <a:gdLst/>
            <a:pathLst>
              <a:path w="2146935" h="448055">
                <a:moveTo>
                  <a:pt x="112014" y="0"/>
                </a:moveTo>
                <a:cubicBezTo>
                  <a:pt x="50150" y="0"/>
                  <a:pt x="0" y="50150"/>
                  <a:pt x="0" y="112013"/>
                </a:cubicBezTo>
                <a:cubicBezTo>
                  <a:pt x="0" y="397904"/>
                  <a:pt x="50150" y="448055"/>
                  <a:pt x="112014" y="448055"/>
                </a:cubicBezTo>
                <a:cubicBezTo>
                  <a:pt x="2096784" y="448055"/>
                  <a:pt x="2146935" y="397904"/>
                  <a:pt x="2146935" y="336041"/>
                </a:cubicBezTo>
                <a:cubicBezTo>
                  <a:pt x="2146935" y="50150"/>
                  <a:pt x="2096784" y="0"/>
                  <a:pt x="2034921" y="0"/>
                </a:cubicBezTo>
                <a:close/>
              </a:path>
            </a:pathLst>
          </a:custGeom>
          <a:solidFill>
            <a:srgbClr val="0F766E"/>
          </a:solidFill>
          <a:ln w="12700">
            <a:noFill/>
          </a:ln>
        </p:spPr>
      </p:sp>
      <p:sp>
        <p:nvSpPr>
          <p:cNvPr id="21" name="TextBox 20"/>
          <p:cNvSpPr txBox="1"/>
          <p:nvPr/>
        </p:nvSpPr>
        <p:spPr>
          <a:xfrm>
            <a:off x="3207616" y="5822442"/>
            <a:ext cx="1964862" cy="539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70" b="1">
                <a:solidFill>
                  <a:srgbClr val="FFFFFF"/>
                </a:solidFill>
                <a:latin typeface="Arial"/>
              </a:rPr>
              <a:t>Customer data</a:t>
            </a:r>
          </a:p>
        </p:txBody>
      </p:sp>
      <p:sp>
        <p:nvSpPr>
          <p:cNvPr id="22" name="Freeform"/>
          <p:cNvSpPr/>
          <p:nvPr/>
        </p:nvSpPr>
        <p:spPr>
          <a:xfrm>
            <a:off x="7037070" y="5667946"/>
            <a:ext cx="2146935" cy="448055"/>
          </a:xfrm>
          <a:custGeom>
            <a:avLst/>
            <a:gdLst/>
            <a:pathLst>
              <a:path w="2146935" h="448055">
                <a:moveTo>
                  <a:pt x="112014" y="0"/>
                </a:moveTo>
                <a:cubicBezTo>
                  <a:pt x="50150" y="0"/>
                  <a:pt x="0" y="50150"/>
                  <a:pt x="0" y="112013"/>
                </a:cubicBezTo>
                <a:cubicBezTo>
                  <a:pt x="0" y="397904"/>
                  <a:pt x="50150" y="448055"/>
                  <a:pt x="112014" y="448055"/>
                </a:cubicBezTo>
                <a:cubicBezTo>
                  <a:pt x="2096784" y="448055"/>
                  <a:pt x="2146935" y="397904"/>
                  <a:pt x="2146935" y="336041"/>
                </a:cubicBezTo>
                <a:cubicBezTo>
                  <a:pt x="2146935" y="50150"/>
                  <a:pt x="2096784" y="0"/>
                  <a:pt x="2034920" y="0"/>
                </a:cubicBezTo>
                <a:close/>
              </a:path>
            </a:pathLst>
          </a:custGeom>
          <a:solidFill>
            <a:srgbClr val="0F766E"/>
          </a:solidFill>
          <a:ln w="12700">
            <a:noFill/>
          </a:ln>
        </p:spPr>
      </p:sp>
      <p:sp>
        <p:nvSpPr>
          <p:cNvPr id="23" name="TextBox 22"/>
          <p:cNvSpPr txBox="1"/>
          <p:nvPr/>
        </p:nvSpPr>
        <p:spPr>
          <a:xfrm>
            <a:off x="6913039" y="5822442"/>
            <a:ext cx="2394996" cy="539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70" b="1">
                <a:solidFill>
                  <a:srgbClr val="FFFFFF"/>
                </a:solidFill>
                <a:latin typeface="Arial"/>
              </a:rPr>
              <a:t>Integration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Generated 18 editable SVG-derived objects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6051"/>
            <a:ext cx="110029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</a:rPr>
              <a:t>Architecture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73252"/>
            <a:ext cx="110029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How the platform stays composable as it grows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7572"/>
            <a:ext cx="1100297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691640"/>
            <a:ext cx="333756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993392"/>
            <a:ext cx="59436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7" y="2185416"/>
            <a:ext cx="2103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07792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</a:rPr>
              <a:t>One experience contract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611880"/>
            <a:ext cx="2697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All entry points use the same workflow semantics and identity model.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8848" y="1691640"/>
            <a:ext cx="333756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0" y="1993392"/>
            <a:ext cx="594360" cy="5943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56048" y="2185416"/>
            <a:ext cx="2103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907792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</a:rPr>
              <a:t>Decision logic in one place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611880"/>
            <a:ext cx="2697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Policy, routing, and recommendations do not leak into each channel.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47888" y="1691640"/>
            <a:ext cx="333756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03919" y="1993392"/>
            <a:ext cx="594360" cy="5943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05088" y="2185416"/>
            <a:ext cx="2103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19" y="2907792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</a:rPr>
              <a:t>Governed extension points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11880"/>
            <a:ext cx="2697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Integrations add capability without creating a second platform.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5120640"/>
            <a:ext cx="10789920" cy="65836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5358384"/>
            <a:ext cx="9966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Next decision: establish the shared workflow contract before scaling channel-specific features.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